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24384000" cy="13716000"/>
  <p:notesSz cx="6858000" cy="9144000"/>
  <p:embeddedFontLst>
    <p:embeddedFont>
      <p:font typeface="KCC-Ganpan" panose="020B0600000101010101" charset="-127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4" d="100"/>
          <a:sy n="44" d="100"/>
        </p:scale>
        <p:origin x="499" y="-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Relationship Id="rId15" Type="http://schemas.openxmlformats.org/officeDocument/2006/relationships/image" Target="../media/image29.png"/><Relationship Id="rId16" Type="http://schemas.openxmlformats.org/officeDocument/2006/relationships/image" Target="../media/image30.png"/><Relationship Id="rId17" Type="http://schemas.openxmlformats.org/officeDocument/2006/relationships/image" Target="../media/image31.png"/><Relationship Id="rId18" Type="http://schemas.openxmlformats.org/officeDocument/2006/relationships/image" Target="../media/image32.png"/><Relationship Id="rId19" Type="http://schemas.openxmlformats.org/officeDocument/2006/relationships/image" Target="../media/image33.png"/><Relationship Id="rId20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21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42.png"/><Relationship Id="rId14" Type="http://schemas.openxmlformats.org/officeDocument/2006/relationships/image" Target="../media/image43.png"/><Relationship Id="rId15" Type="http://schemas.openxmlformats.org/officeDocument/2006/relationships/image" Target="../media/image44.png"/><Relationship Id="rId16" Type="http://schemas.openxmlformats.org/officeDocument/2006/relationships/image" Target="../media/image45.png"/><Relationship Id="rId17" Type="http://schemas.openxmlformats.org/officeDocument/2006/relationships/image" Target="../media/image4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Relationship Id="rId11" Type="http://schemas.openxmlformats.org/officeDocument/2006/relationships/image" Target="../media/image55.png"/><Relationship Id="rId12" Type="http://schemas.openxmlformats.org/officeDocument/2006/relationships/image" Target="../media/image26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image" Target="../media/image5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Relationship Id="rId7" Type="http://schemas.openxmlformats.org/officeDocument/2006/relationships/image" Target="../media/image51.png"/><Relationship Id="rId8" Type="http://schemas.openxmlformats.org/officeDocument/2006/relationships/image" Target="../media/image63.png"/><Relationship Id="rId9" Type="http://schemas.openxmlformats.org/officeDocument/2006/relationships/image" Target="../media/image64.png"/><Relationship Id="rId10" Type="http://schemas.openxmlformats.org/officeDocument/2006/relationships/image" Target="../media/image24.png"/><Relationship Id="rId11" Type="http://schemas.openxmlformats.org/officeDocument/2006/relationships/image" Target="../media/image65.png"/><Relationship Id="rId12" Type="http://schemas.openxmlformats.org/officeDocument/2006/relationships/image" Target="../media/image26.png"/><Relationship Id="rId13" Type="http://schemas.openxmlformats.org/officeDocument/2006/relationships/image" Target="../media/image66.png"/><Relationship Id="rId14" Type="http://schemas.openxmlformats.org/officeDocument/2006/relationships/image" Target="../media/image6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Relationship Id="rId7" Type="http://schemas.openxmlformats.org/officeDocument/2006/relationships/image" Target="../media/image2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Relationship Id="rId10" Type="http://schemas.openxmlformats.org/officeDocument/2006/relationships/image" Target="../media/image7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75.png"/><Relationship Id="rId14" Type="http://schemas.openxmlformats.org/officeDocument/2006/relationships/image" Target="../media/image7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21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Relationship Id="rId10" Type="http://schemas.openxmlformats.org/officeDocument/2006/relationships/image" Target="../media/image83.png"/><Relationship Id="rId11" Type="http://schemas.openxmlformats.org/officeDocument/2006/relationships/image" Target="../media/image84.png"/><Relationship Id="rId12" Type="http://schemas.openxmlformats.org/officeDocument/2006/relationships/image" Target="../media/image26.png"/><Relationship Id="rId13" Type="http://schemas.openxmlformats.org/officeDocument/2006/relationships/image" Target="../media/image85.png"/><Relationship Id="rId14" Type="http://schemas.openxmlformats.org/officeDocument/2006/relationships/image" Target="../media/image86.png"/><Relationship Id="rId15" Type="http://schemas.openxmlformats.org/officeDocument/2006/relationships/image" Target="../media/image87.png"/><Relationship Id="rId16" Type="http://schemas.openxmlformats.org/officeDocument/2006/relationships/image" Target="../media/image88.png"/><Relationship Id="rId17" Type="http://schemas.openxmlformats.org/officeDocument/2006/relationships/image" Target="../media/image89.png"/><Relationship Id="rId18" Type="http://schemas.openxmlformats.org/officeDocument/2006/relationships/image" Target="../media/image90.png"/><Relationship Id="rId19" Type="http://schemas.openxmlformats.org/officeDocument/2006/relationships/image" Target="../media/image91.png"/><Relationship Id="rId20" Type="http://schemas.openxmlformats.org/officeDocument/2006/relationships/image" Target="../media/image92.png"/><Relationship Id="rId21" Type="http://schemas.openxmlformats.org/officeDocument/2006/relationships/image" Target="../media/image9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4.png"/><Relationship Id="rId4" Type="http://schemas.openxmlformats.org/officeDocument/2006/relationships/image" Target="../media/image95.png"/><Relationship Id="rId5" Type="http://schemas.openxmlformats.org/officeDocument/2006/relationships/image" Target="../media/image96.png"/><Relationship Id="rId6" Type="http://schemas.openxmlformats.org/officeDocument/2006/relationships/image" Target="../media/image97.png"/><Relationship Id="rId7" Type="http://schemas.openxmlformats.org/officeDocument/2006/relationships/image" Target="../media/image21.png"/><Relationship Id="rId8" Type="http://schemas.openxmlformats.org/officeDocument/2006/relationships/image" Target="../media/image98.png"/><Relationship Id="rId9" Type="http://schemas.openxmlformats.org/officeDocument/2006/relationships/image" Target="../media/image99.png"/><Relationship Id="rId10" Type="http://schemas.openxmlformats.org/officeDocument/2006/relationships/image" Target="../media/image100.png"/><Relationship Id="rId11" Type="http://schemas.openxmlformats.org/officeDocument/2006/relationships/image" Target="../media/image101.png"/><Relationship Id="rId12" Type="http://schemas.openxmlformats.org/officeDocument/2006/relationships/image" Target="../media/image26.png"/><Relationship Id="rId13" Type="http://schemas.openxmlformats.org/officeDocument/2006/relationships/image" Target="../media/image102.png"/><Relationship Id="rId14" Type="http://schemas.openxmlformats.org/officeDocument/2006/relationships/image" Target="../media/image90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Relationship Id="rId18" Type="http://schemas.openxmlformats.org/officeDocument/2006/relationships/image" Target="../media/image10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17526000" y="9613900"/>
            <a:ext cx="7048500" cy="715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-1860000">
            <a:off x="-1460500" y="7747000"/>
            <a:ext cx="7493000" cy="8216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7000"/>
          </a:blip>
          <a:stretch>
            <a:fillRect/>
          </a:stretch>
        </p:blipFill>
        <p:spPr>
          <a:xfrm rot="13080000">
            <a:off x="17932400" y="-2819400"/>
            <a:ext cx="8255000" cy="5588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3784600" y="2641600"/>
            <a:ext cx="16802100" cy="883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384800" y="5511800"/>
            <a:ext cx="13462000" cy="2705100"/>
          </a:xfrm>
          <a:prstGeom prst="rect">
            <a:avLst/>
          </a:prstGeom>
        </p:spPr>
        <p:txBody>
          <a:bodyPr lIns="0" tIns="443980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5199" b="0" i="0" u="none" strike="noStrike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</a:t>
            </a:r>
            <a:r>
              <a:rPr lang="en-US" sz="15199" b="0" i="0" u="none" strike="noStrike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sz="15199" b="0" i="0" u="none" strike="noStrike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전통</a:t>
            </a:r>
            <a:r>
              <a:rPr lang="en-US" sz="15199" b="0" i="0" u="none" strike="noStrike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sz="15199" b="0" i="0" u="none" strike="noStrike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놀이</a:t>
            </a:r>
            <a:endParaRPr lang="en-US" sz="15199" b="0" i="0" u="none" strike="noStrike" dirty="0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10900" y="3721100"/>
            <a:ext cx="2006600" cy="11303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52000"/>
          </a:blip>
          <a:stretch>
            <a:fillRect/>
          </a:stretch>
        </p:blipFill>
        <p:spPr>
          <a:xfrm>
            <a:off x="8305800" y="8636000"/>
            <a:ext cx="7632700" cy="97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95100" y="4292600"/>
            <a:ext cx="825500" cy="825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">
            <a:off x="4241800" y="10896600"/>
            <a:ext cx="1498600" cy="1790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">
            <a:off x="3251200" y="10617200"/>
            <a:ext cx="1498600" cy="1790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2">
            <a:alphaModFix amt="90000"/>
          </a:blip>
          <a:stretch>
            <a:fillRect/>
          </a:stretch>
        </p:blipFill>
        <p:spPr>
          <a:xfrm rot="1620000">
            <a:off x="-1803400" y="-3429000"/>
            <a:ext cx="7251700" cy="6515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 rot="6900000">
            <a:off x="9855200" y="-2425700"/>
            <a:ext cx="4229100" cy="463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>
            <a:alphaModFix amt="91000"/>
          </a:blip>
          <a:stretch>
            <a:fillRect/>
          </a:stretch>
        </p:blipFill>
        <p:spPr>
          <a:xfrm rot="21360000">
            <a:off x="20751800" y="-1435100"/>
            <a:ext cx="6667500" cy="62738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91000"/>
          </a:blip>
          <a:stretch>
            <a:fillRect/>
          </a:stretch>
        </p:blipFill>
        <p:spPr>
          <a:xfrm rot="10380000">
            <a:off x="-3060700" y="6172200"/>
            <a:ext cx="6959600" cy="65786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6">
            <a:alphaModFix amt="72000"/>
          </a:blip>
          <a:stretch>
            <a:fillRect/>
          </a:stretch>
        </p:blipFill>
        <p:spPr>
          <a:xfrm rot="-12840000">
            <a:off x="20256500" y="9486900"/>
            <a:ext cx="4813300" cy="3771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7">
            <a:alphaModFix amt="72000"/>
          </a:blip>
          <a:stretch>
            <a:fillRect/>
          </a:stretch>
        </p:blipFill>
        <p:spPr>
          <a:xfrm rot="15660000">
            <a:off x="165100" y="-1473200"/>
            <a:ext cx="3848100" cy="5118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839200" y="8940800"/>
            <a:ext cx="6553200" cy="469900"/>
          </a:xfrm>
          <a:prstGeom prst="rect">
            <a:avLst/>
          </a:prstGeom>
        </p:spPr>
        <p:txBody>
          <a:bodyPr lIns="0" tIns="33866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800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</a:t>
            </a:r>
            <a:r>
              <a:rPr lang="en-US" sz="2800" b="1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800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an'anaviy</a:t>
            </a:r>
            <a:r>
              <a:rPr lang="en-US" sz="2800" b="1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800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o'yinlar</a:t>
            </a:r>
            <a:endParaRPr lang="en-US" sz="2666" b="1" i="0" u="none" strike="noStrike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공기놀이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Gonggi o'yini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29800" y="5676900"/>
            <a:ext cx="12293600" cy="13843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0401300" y="5981700"/>
            <a:ext cx="1117600" cy="7620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293" b="0" i="0" u="none" strike="noStrike" cap="all" spc="-2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29800" y="7353300"/>
            <a:ext cx="12293600" cy="13843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0401300" y="7645400"/>
            <a:ext cx="1117600" cy="7620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293" b="0" i="0" u="none" strike="noStrike" cap="all" spc="-2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29800" y="9004300"/>
            <a:ext cx="12293600" cy="13843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10401300" y="9296400"/>
            <a:ext cx="1117600" cy="7620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293" b="0" i="0" u="none" strike="noStrike" cap="all" spc="-2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353800" y="5981700"/>
            <a:ext cx="9855200" cy="762000"/>
          </a:xfrm>
          <a:prstGeom prst="rect">
            <a:avLst/>
          </a:prstGeom>
        </p:spPr>
        <p:txBody>
          <a:bodyPr lIns="0" tIns="132522" rIns="0" bIns="0" rtlCol="0" anchor="t" wrap="none"/>
          <a:lstStyle/>
          <a:p>
            <a:pPr lvl="0" algn="l">
              <a:lnSpc>
                <a:spcPct val="78020"/>
              </a:lnSpc>
            </a:pPr>
            <a:r>
              <a:rPr lang="en-US" sz="4293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바닥에 공깃돌을 뿌리기</a:t>
            </a:r>
          </a:p>
          <a:p>
            <a:pPr algn="l">
              <a:spcBef>
                <a:spcPts val="2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Toshlarni yerga sochish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353800" y="7645400"/>
            <a:ext cx="10223500" cy="762000"/>
          </a:xfrm>
          <a:prstGeom prst="rect">
            <a:avLst/>
          </a:prstGeom>
        </p:spPr>
        <p:txBody>
          <a:bodyPr lIns="0" tIns="132522" rIns="0" bIns="0" rtlCol="0" anchor="t" wrap="none"/>
          <a:lstStyle/>
          <a:p>
            <a:pPr lvl="0" algn="l">
              <a:lnSpc>
                <a:spcPct val="78020"/>
              </a:lnSpc>
            </a:pPr>
            <a:r>
              <a:rPr lang="en-US" sz="4293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하늘로 돌을 던지고, 바닥에 있는 돌을 집기</a:t>
            </a:r>
          </a:p>
          <a:p>
            <a:pPr algn="l">
              <a:spcBef>
                <a:spcPts val="2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Toshni yuqoriga otib, yerdagi toshni olish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353800" y="9296400"/>
            <a:ext cx="9664700" cy="762000"/>
          </a:xfrm>
          <a:prstGeom prst="rect">
            <a:avLst/>
          </a:prstGeom>
        </p:spPr>
        <p:txBody>
          <a:bodyPr lIns="0" tIns="132522" rIns="0" bIns="0" rtlCol="0" anchor="t" wrap="none"/>
          <a:lstStyle/>
          <a:p>
            <a:pPr lvl="0" algn="l">
              <a:lnSpc>
                <a:spcPct val="78020"/>
              </a:lnSpc>
            </a:pPr>
            <a:r>
              <a:rPr lang="en-US" sz="4293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더 이상 바닥에 돌이 없을 때까지 반복하기</a:t>
            </a:r>
          </a:p>
          <a:p>
            <a:pPr algn="l">
              <a:spcBef>
                <a:spcPts val="2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Yerda tosh qolmaguncha takrorlash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6">
            <a:alphaModFix amt="52000"/>
          </a:blip>
          <a:stretch>
            <a:fillRect/>
          </a:stretch>
        </p:blipFill>
        <p:spPr>
          <a:xfrm>
            <a:off x="2260600" y="4368800"/>
            <a:ext cx="19862800" cy="10795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4152900" y="4559300"/>
            <a:ext cx="16700500" cy="711200"/>
          </a:xfrm>
          <a:prstGeom prst="rect">
            <a:avLst/>
          </a:prstGeom>
        </p:spPr>
        <p:txBody>
          <a:bodyPr lIns="0" tIns="50799" rIns="0" bIns="0" rtlCol="0" anchor="ctr" wrap="none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다섯 개의 작고 동그란 돌을 던져 손으로 잡으며 노는 놀이</a:t>
            </a:r>
          </a:p>
          <a:p>
            <a:pPr algn="ctr">
              <a:spcBef>
                <a:spcPts val="3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Beshta kichik dumaloq toshni havoga otib, qo'l bilan ilib o'ynaladigan o'yin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63900" y="5689600"/>
            <a:ext cx="5499100" cy="4711700"/>
          </a:xfrm>
          <a:prstGeom prst="rect">
            <a:avLst/>
          </a:prstGeom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829800" y="10629900"/>
            <a:ext cx="12293600" cy="1384300"/>
          </a:xfrm>
          <a:prstGeom prst="rect">
            <a:avLst/>
          </a:prstGeom>
        </p:spPr>
      </p:pic>
      <p:sp>
        <p:nvSpPr>
          <p:cNvPr id="28" name="TextBox 28"/>
          <p:cNvSpPr txBox="1"/>
          <p:nvPr/>
        </p:nvSpPr>
        <p:spPr>
          <a:xfrm>
            <a:off x="10401300" y="10922000"/>
            <a:ext cx="1117600" cy="7620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293" b="0" i="0" u="none" strike="noStrike" cap="all" spc="-2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353800" y="10947400"/>
            <a:ext cx="9664700" cy="762000"/>
          </a:xfrm>
          <a:prstGeom prst="rect">
            <a:avLst/>
          </a:prstGeom>
        </p:spPr>
        <p:txBody>
          <a:bodyPr lIns="0" tIns="132522" rIns="0" bIns="0" rtlCol="0" anchor="t" wrap="none"/>
          <a:lstStyle/>
          <a:p>
            <a:pPr lvl="0" algn="l">
              <a:lnSpc>
                <a:spcPct val="78020"/>
              </a:lnSpc>
            </a:pPr>
            <a:r>
              <a:rPr lang="en-US" sz="4293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공기를 손등에 올린 후 채어잡기</a:t>
            </a:r>
          </a:p>
          <a:p>
            <a:pPr algn="l">
              <a:spcBef>
                <a:spcPts val="2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Toshlarni qo'l ustiga qo'yib, havoda ilib olish</a:t>
            </a: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-774700" y="8128000"/>
            <a:ext cx="4737100" cy="6426200"/>
          </a:xfrm>
          <a:prstGeom prst="rect">
            <a:avLst/>
          </a:prstGeom>
        </p:spPr>
      </p:pic>
      <p:pic>
        <p:nvPicPr>
          <p:cNvPr id="31" name="Picture 31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755900" y="9512300"/>
            <a:ext cx="7073900" cy="5562600"/>
          </a:xfrm>
          <a:prstGeom prst="rect">
            <a:avLst/>
          </a:prstGeom>
        </p:spPr>
      </p:pic>
      <p:sp>
        <p:nvSpPr>
          <p:cNvPr id="32" name="TextBox 32"/>
          <p:cNvSpPr txBox="1"/>
          <p:nvPr/>
        </p:nvSpPr>
        <p:spPr>
          <a:xfrm>
            <a:off x="3695700" y="9940381"/>
            <a:ext cx="5194300" cy="3638458"/>
          </a:xfrm>
          <a:prstGeom prst="rect">
            <a:avLst/>
          </a:prstGeom>
        </p:spPr>
        <p:txBody>
          <a:bodyPr lIns="0" tIns="46901" rIns="0" bIns="0" rtlCol="0" anchor="ctr" wrap="none"/>
          <a:lstStyle/>
          <a:p>
            <a:pPr lvl="0" algn="ctr">
              <a:lnSpc>
                <a:spcPct val="85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바닥에 있는 돌을 집을 때</a:t>
            </a:r>
          </a:p>
          <a:p>
            <a:pPr algn="ctr">
              <a:lnSpc>
                <a:spcPct val="85000"/>
              </a:lnSpc>
              <a:spcBef>
                <a:spcPts val="1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Yerdagi toshni olayotganda</a:t>
            </a:r>
          </a:p>
          <a:p>
            <a:pPr algn="ctr">
              <a:lnSpc>
                <a:spcPct val="85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주변 돌을 건드리면 실패!</a:t>
            </a:r>
          </a:p>
          <a:p>
            <a:pPr algn="ctr">
              <a:lnSpc>
                <a:spcPct val="85000"/>
              </a:lnSpc>
              <a:spcBef>
                <a:spcPts val="1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yon-atrofdagi toshga tegsangiz — mag'lubiyat!</a:t>
            </a:r>
          </a:p>
          <a:p>
            <a:pPr algn="ctr">
              <a:lnSpc>
                <a:spcPct val="85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한 번에 집는 돌의 개수를 늘려 가다가</a:t>
            </a:r>
          </a:p>
          <a:p>
            <a:pPr algn="ctr">
              <a:lnSpc>
                <a:spcPct val="85000"/>
              </a:lnSpc>
              <a:spcBef>
                <a:spcPts val="1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Bir martada olinadigan tosh sonini oshirib borib</a:t>
            </a:r>
          </a:p>
          <a:p>
            <a:pPr algn="ctr">
              <a:lnSpc>
                <a:spcPct val="85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다섯 개가 되면 채어잡기!</a:t>
            </a:r>
          </a:p>
          <a:p>
            <a:pPr algn="ctr">
              <a:lnSpc>
                <a:spcPct val="85000"/>
              </a:lnSpc>
              <a:spcBef>
                <a:spcPts val="1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beshta bo'lganda havoda ilib oling!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제기차기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Jegichagi o'yini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82800" y="3556000"/>
            <a:ext cx="7404100" cy="85090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4700" y="5727700"/>
            <a:ext cx="12458700" cy="14605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10274300" y="60325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64700" y="7480300"/>
            <a:ext cx="12458700" cy="1460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10274300" y="77978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64700" y="9232900"/>
            <a:ext cx="12458700" cy="14605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0274300" y="95504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7600" y="6032500"/>
            <a:ext cx="4953000" cy="812800"/>
          </a:xfrm>
          <a:prstGeom prst="rect">
            <a:avLst/>
          </a:prstGeom>
        </p:spPr>
        <p:txBody>
          <a:bodyPr lIns="0" tIns="132522" rIns="0" bIns="0" rtlCol="0" anchor="t" wrap="none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손으로 제기 쥐기</a:t>
            </a:r>
          </a:p>
          <a:p>
            <a:pPr algn="l">
              <a:spcBef>
                <a:spcPts val="2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Jegini qo'l bilan ushlash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7600" y="7797800"/>
            <a:ext cx="7124700" cy="812800"/>
          </a:xfrm>
          <a:prstGeom prst="rect">
            <a:avLst/>
          </a:prstGeom>
        </p:spPr>
        <p:txBody>
          <a:bodyPr lIns="0" tIns="132522" rIns="0" bIns="0" rtlCol="0" anchor="t" wrap="none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가볍게 던져 올리기</a:t>
            </a:r>
          </a:p>
          <a:p>
            <a:pPr algn="l">
              <a:spcBef>
                <a:spcPts val="2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Yengil qilib yuqoriga otish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77600" y="9550400"/>
            <a:ext cx="10210800" cy="812800"/>
          </a:xfrm>
          <a:prstGeom prst="rect">
            <a:avLst/>
          </a:prstGeom>
        </p:spPr>
        <p:txBody>
          <a:bodyPr lIns="0" tIns="132522" rIns="0" bIns="0" rtlCol="0" anchor="t" wrap="none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바닥에 떨어지지 않게 계속해서 차기</a:t>
            </a:r>
          </a:p>
          <a:p>
            <a:pPr algn="l">
              <a:spcBef>
                <a:spcPts val="2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Yerga tushirmasdan tepishda davom etish</a:t>
            </a: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7">
            <a:alphaModFix amt="52000"/>
          </a:blip>
          <a:stretch>
            <a:fillRect/>
          </a:stretch>
        </p:blipFill>
        <p:spPr>
          <a:xfrm>
            <a:off x="9664700" y="4368800"/>
            <a:ext cx="12458700" cy="1079500"/>
          </a:xfrm>
          <a:prstGeom prst="rect">
            <a:avLst/>
          </a:prstGeom>
        </p:spPr>
      </p:pic>
      <p:sp>
        <p:nvSpPr>
          <p:cNvPr id="26" name="TextBox 26"/>
          <p:cNvSpPr txBox="1"/>
          <p:nvPr/>
        </p:nvSpPr>
        <p:spPr>
          <a:xfrm>
            <a:off x="11049000" y="4559300"/>
            <a:ext cx="9804400" cy="711200"/>
          </a:xfrm>
          <a:prstGeom prst="rect">
            <a:avLst/>
          </a:prstGeom>
        </p:spPr>
        <p:txBody>
          <a:bodyPr lIns="0" tIns="50799" rIns="0" bIns="0" rtlCol="0" anchor="ctr" wrap="none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제기를 가지고 발로 차는 놀이</a:t>
            </a:r>
          </a:p>
          <a:p>
            <a:pPr algn="ctr">
              <a:spcBef>
                <a:spcPts val="3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Jegini oyoq bilan tepib o'ynaladigan o'yin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비석치기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Biseokchigi o'yini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2260600" y="4368800"/>
            <a:ext cx="19862800" cy="1079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2527300" y="4559300"/>
            <a:ext cx="19342100" cy="711200"/>
          </a:xfrm>
          <a:prstGeom prst="rect">
            <a:avLst/>
          </a:prstGeom>
        </p:spPr>
        <p:txBody>
          <a:bodyPr lIns="0" tIns="50799" rIns="0" bIns="0" rtlCol="0" anchor="ctr" wrap="none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손바닥 크기의 네모난 돌을 손으로 던지거나 발로 차서 상대의 비석을 맞춰 쓰러뜨리는 놀이</a:t>
            </a:r>
          </a:p>
          <a:p>
            <a:pPr algn="ctr">
              <a:spcBef>
                <a:spcPts val="3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Kaft kattaligidagi to'rtburchak toshni qo'l bilan otib yoki oyoq bilan tepib, raqib toshini urib ag'daradigan o'yin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92500" y="5753100"/>
            <a:ext cx="7759700" cy="65532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674600" y="5753100"/>
            <a:ext cx="8724900" cy="655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비석치기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Biseokchigi o'yini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57500" y="3822700"/>
            <a:ext cx="9359900" cy="85852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46000" y="3822700"/>
            <a:ext cx="9080500" cy="8483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비석치기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Biseokchigi o'yini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17900" y="3822700"/>
            <a:ext cx="8699500" cy="85852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242800" y="3822700"/>
            <a:ext cx="9156700" cy="8585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무궁화 꽃이 피었습니다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Mugunghwa guli ochildi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2260600" y="4368800"/>
            <a:ext cx="19862800" cy="1079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2489200" y="4559300"/>
            <a:ext cx="19392900" cy="711200"/>
          </a:xfrm>
          <a:prstGeom prst="rect">
            <a:avLst/>
          </a:prstGeom>
        </p:spPr>
        <p:txBody>
          <a:bodyPr lIns="0" tIns="50799" rIns="0" bIns="0" rtlCol="0" anchor="ctr" wrap="none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술래가 '무궁화 꽃이 피었습니다'를 외치는 동안 술래에게 다가가 술래를 치고 달아나는 놀이</a:t>
            </a:r>
          </a:p>
          <a:p>
            <a:pPr algn="ctr">
              <a:spcBef>
                <a:spcPts val="3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Quvlovchi 'Mugunghwa guli ochildi' deb baqirayotganda unga yaqinlashib, uni urib qochadigan o'yin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60600" y="5816600"/>
            <a:ext cx="6070600" cy="34163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02000" y="8686800"/>
            <a:ext cx="5918200" cy="33274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64700" y="5727700"/>
            <a:ext cx="12458700" cy="14605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10274300" y="60325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664700" y="7480300"/>
            <a:ext cx="12458700" cy="14605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10274300" y="77978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664700" y="9232900"/>
            <a:ext cx="12458700" cy="14605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0274300" y="95504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7600" y="6032500"/>
            <a:ext cx="10033000" cy="812800"/>
          </a:xfrm>
          <a:prstGeom prst="rect">
            <a:avLst/>
          </a:prstGeom>
        </p:spPr>
        <p:txBody>
          <a:bodyPr lIns="0" tIns="132522" rIns="0" bIns="0" rtlCol="0" anchor="t" wrap="none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술래는 '무궁화 꽃이 피었습니다' 외치기</a:t>
            </a:r>
          </a:p>
          <a:p>
            <a:pPr algn="l">
              <a:spcBef>
                <a:spcPts val="2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Quvlovchi 'Mugunghwa guli ochildi' deb baqiradi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7600" y="7797800"/>
            <a:ext cx="10718800" cy="812800"/>
          </a:xfrm>
          <a:prstGeom prst="rect">
            <a:avLst/>
          </a:prstGeom>
        </p:spPr>
        <p:txBody>
          <a:bodyPr lIns="0" tIns="132522" rIns="0" bIns="0" rtlCol="0" anchor="t" wrap="none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술래가 구호를 외치는 동안 다가가기</a:t>
            </a:r>
          </a:p>
          <a:p>
            <a:pPr algn="l">
              <a:spcBef>
                <a:spcPts val="2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Quvlovchi shior aytayotganda yaqinlashish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7600" y="9550400"/>
            <a:ext cx="10210800" cy="812800"/>
          </a:xfrm>
          <a:prstGeom prst="rect">
            <a:avLst/>
          </a:prstGeom>
        </p:spPr>
        <p:txBody>
          <a:bodyPr lIns="0" tIns="132522" rIns="0" bIns="0" rtlCol="0" anchor="t" wrap="none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술래를 치고 달아나기</a:t>
            </a:r>
          </a:p>
          <a:p>
            <a:pPr algn="l">
              <a:spcBef>
                <a:spcPts val="2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Quvlovchini urib qochish</a:t>
            </a: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421600" y="7797800"/>
            <a:ext cx="4737100" cy="6426200"/>
          </a:xfrm>
          <a:prstGeom prst="rect">
            <a:avLst/>
          </a:prstGeom>
        </p:spPr>
      </p:pic>
      <p:pic>
        <p:nvPicPr>
          <p:cNvPr id="29" name="Picture 29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4973300" y="9842500"/>
            <a:ext cx="7404100" cy="5562600"/>
          </a:xfrm>
          <a:prstGeom prst="rect">
            <a:avLst/>
          </a:prstGeom>
        </p:spPr>
      </p:pic>
      <p:pic>
        <p:nvPicPr>
          <p:cNvPr id="30" name="Picture 30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534400" y="10693400"/>
            <a:ext cx="7073900" cy="5562600"/>
          </a:xfrm>
          <a:prstGeom prst="rect">
            <a:avLst/>
          </a:prstGeom>
        </p:spPr>
      </p:pic>
      <p:sp>
        <p:nvSpPr>
          <p:cNvPr id="31" name="TextBox 31"/>
          <p:cNvSpPr txBox="1"/>
          <p:nvPr/>
        </p:nvSpPr>
        <p:spPr>
          <a:xfrm>
            <a:off x="15494000" y="10849996"/>
            <a:ext cx="6692900" cy="2728843"/>
          </a:xfrm>
          <a:prstGeom prst="rect">
            <a:avLst/>
          </a:prstGeom>
        </p:spPr>
        <p:txBody>
          <a:bodyPr lIns="0" tIns="46901" rIns="0" bIns="0" rtlCol="0" anchor="ctr" wrap="none"/>
          <a:lstStyle/>
          <a:p>
            <a:pPr lvl="0" algn="ctr">
              <a:lnSpc>
                <a:spcPct val="85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술래에게 다가간 사람은</a:t>
            </a:r>
          </a:p>
          <a:p>
            <a:pPr algn="ctr">
              <a:lnSpc>
                <a:spcPct val="85000"/>
              </a:lnSpc>
              <a:spcBef>
                <a:spcPts val="1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Quvlovchiga yetib borgan odam</a:t>
            </a:r>
          </a:p>
          <a:p>
            <a:pPr algn="ctr">
              <a:lnSpc>
                <a:spcPct val="85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술래에게 붙잡힌 사람을 풀어주고</a:t>
            </a:r>
          </a:p>
          <a:p>
            <a:pPr algn="ctr">
              <a:lnSpc>
                <a:spcPct val="85000"/>
              </a:lnSpc>
              <a:spcBef>
                <a:spcPts val="1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ushlangan odamni ozod qilib</a:t>
            </a:r>
          </a:p>
          <a:p>
            <a:pPr algn="ctr">
              <a:lnSpc>
                <a:spcPct val="85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같이 도망갈 수 있어요!</a:t>
            </a:r>
          </a:p>
          <a:p>
            <a:pPr algn="ctr">
              <a:lnSpc>
                <a:spcPct val="85000"/>
              </a:lnSpc>
              <a:spcBef>
                <a:spcPts val="1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birga qochib ketishi mumkin!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601200" y="10849996"/>
            <a:ext cx="5181600" cy="2728843"/>
          </a:xfrm>
          <a:prstGeom prst="rect">
            <a:avLst/>
          </a:prstGeom>
        </p:spPr>
        <p:txBody>
          <a:bodyPr lIns="0" tIns="46901" rIns="0" bIns="0" rtlCol="0" anchor="ctr" wrap="none"/>
          <a:lstStyle/>
          <a:p>
            <a:pPr lvl="0" algn="ctr">
              <a:lnSpc>
                <a:spcPct val="85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술래가 뒤를 돌아봤을 때</a:t>
            </a:r>
          </a:p>
          <a:p>
            <a:pPr algn="ctr">
              <a:lnSpc>
                <a:spcPct val="85000"/>
              </a:lnSpc>
              <a:spcBef>
                <a:spcPts val="1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Quvlovchi orqasiga o'girilganda</a:t>
            </a:r>
          </a:p>
          <a:p>
            <a:pPr algn="ctr">
              <a:lnSpc>
                <a:spcPct val="85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움직이면 탈락!</a:t>
            </a:r>
          </a:p>
          <a:p>
            <a:pPr algn="ctr">
              <a:lnSpc>
                <a:spcPct val="85000"/>
              </a:lnSpc>
              <a:spcBef>
                <a:spcPts val="1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qimirlagan odam o'yindan chiqadi!</a:t>
            </a:r>
          </a:p>
          <a:p>
            <a:pPr algn="ctr">
              <a:lnSpc>
                <a:spcPct val="85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술래에게 붙잡혀요!</a:t>
            </a:r>
          </a:p>
          <a:p>
            <a:pPr algn="ctr">
              <a:lnSpc>
                <a:spcPct val="85000"/>
              </a:lnSpc>
              <a:spcBef>
                <a:spcPts val="1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quvlovchiga tutilasiz!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둥글게 둥글게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Aylana bo'lib, aylana bo'lib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64700" y="5727700"/>
            <a:ext cx="12458700" cy="1460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0274300" y="60325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4700" y="7480300"/>
            <a:ext cx="12458700" cy="14605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0274300" y="77978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64700" y="9232900"/>
            <a:ext cx="12458700" cy="14605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10274300" y="95504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7600" y="6032500"/>
            <a:ext cx="9321800" cy="812800"/>
          </a:xfrm>
          <a:prstGeom prst="rect">
            <a:avLst/>
          </a:prstGeom>
        </p:spPr>
        <p:txBody>
          <a:bodyPr lIns="0" tIns="132522" rIns="0" bIns="0" rtlCol="0" anchor="t" wrap="none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손잡고 원 만들어 노래 부르며 돌기</a:t>
            </a:r>
          </a:p>
          <a:p>
            <a:pPr algn="l">
              <a:spcBef>
                <a:spcPts val="2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Qo'l ushlashib aylana yasab, qo'shiq aytib aylanish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7600" y="7797800"/>
            <a:ext cx="10388600" cy="812800"/>
          </a:xfrm>
          <a:prstGeom prst="rect">
            <a:avLst/>
          </a:prstGeom>
        </p:spPr>
        <p:txBody>
          <a:bodyPr lIns="0" tIns="132522" rIns="0" bIns="0" rtlCol="0" anchor="t" wrap="none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술래가 부르는 숫자를 잘 듣기</a:t>
            </a:r>
          </a:p>
          <a:p>
            <a:pPr algn="l">
              <a:spcBef>
                <a:spcPts val="2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Boshlovchi aytgan sonni diqqat bilan tinglash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7600" y="9550400"/>
            <a:ext cx="10210800" cy="812800"/>
          </a:xfrm>
          <a:prstGeom prst="rect">
            <a:avLst/>
          </a:prstGeom>
        </p:spPr>
        <p:txBody>
          <a:bodyPr lIns="0" tIns="132522" rIns="0" bIns="0" rtlCol="0" anchor="t" wrap="none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숫자에 맞는 인원 수대로 그룹 만들기</a:t>
            </a:r>
          </a:p>
          <a:p>
            <a:pPr algn="l">
              <a:spcBef>
                <a:spcPts val="2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Songa mos ravishda o'sha sonli guruh tuzish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6">
            <a:alphaModFix amt="52000"/>
          </a:blip>
          <a:stretch>
            <a:fillRect/>
          </a:stretch>
        </p:blipFill>
        <p:spPr>
          <a:xfrm>
            <a:off x="2260600" y="4368800"/>
            <a:ext cx="19862800" cy="10795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4152900" y="4559300"/>
            <a:ext cx="16700500" cy="711200"/>
          </a:xfrm>
          <a:prstGeom prst="rect">
            <a:avLst/>
          </a:prstGeom>
        </p:spPr>
        <p:txBody>
          <a:bodyPr lIns="0" tIns="50799" rIns="0" bIns="0" rtlCol="0" anchor="ctr" wrap="none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아이들과 함께 손을 잡고 원을 만들어 율동에 맞춰 도는 신체 놀이</a:t>
            </a:r>
          </a:p>
          <a:p>
            <a:pPr algn="ctr">
              <a:spcBef>
                <a:spcPts val="3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Bolalar bilan qo'l ushlashib, aylana yasab, musiqa ohangida aylanadigan harakatli o'yin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7">
            <a:alphaModFix amt="52000"/>
          </a:blip>
          <a:stretch>
            <a:fillRect/>
          </a:stretch>
        </p:blipFill>
        <p:spPr>
          <a:xfrm>
            <a:off x="2260600" y="10985500"/>
            <a:ext cx="19862800" cy="10795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4102100" y="11163300"/>
            <a:ext cx="16700500" cy="711200"/>
          </a:xfrm>
          <a:prstGeom prst="rect">
            <a:avLst/>
          </a:prstGeom>
        </p:spPr>
        <p:txBody>
          <a:bodyPr lIns="0" tIns="50799" rIns="0" bIns="0" rtlCol="0" anchor="ctr" wrap="none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무리에 끼지 못했거나 정해진 숫자대로 만들지 못한 사람은 탈락!</a:t>
            </a:r>
          </a:p>
          <a:p>
            <a:pPr algn="ctr">
              <a:spcBef>
                <a:spcPts val="300"/>
              </a:spcBef>
            </a:pPr>
            <a:r>
              <a:rPr sz="28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Guruhga qo'shila olmagan yoki belgilangan songa yetkaza olmagan odam o'yindan chiqadi!</a:t>
            </a: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52800" y="5791200"/>
            <a:ext cx="52832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210</Words>
  <Application>Microsoft Office PowerPoint</Application>
  <PresentationFormat>사용자 지정</PresentationFormat>
  <Paragraphs>58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KCC-Ganpan</vt:lpstr>
      <vt:lpstr>S-Core Dream 3 Light</vt:lpstr>
      <vt:lpstr>Arial</vt:lpstr>
      <vt:lpstr>S-Core Dream 8 Heavy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이다은</dc:creator>
  <cp:lastModifiedBy>장지훈</cp:lastModifiedBy>
  <cp:revision>2</cp:revision>
  <dcterms:created xsi:type="dcterms:W3CDTF">2006-08-16T00:00:00Z</dcterms:created>
  <dcterms:modified xsi:type="dcterms:W3CDTF">2026-06-28T14:17:10Z</dcterms:modified>
</cp:coreProperties>
</file>