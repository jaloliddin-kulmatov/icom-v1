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24384000" cy="13716000"/>
  <p:notesSz cx="6858000" cy="9144000"/>
  <p:embeddedFontLst>
    <p:embeddedFont>
      <p:font typeface="KCC-Ganpan" panose="020B0600000101010101" charset="-127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499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font" Target="fonts/font1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8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20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25.png"/><Relationship Id="rId13" Type="http://schemas.openxmlformats.org/officeDocument/2006/relationships/image" Target="../media/image8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20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25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71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74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79.png"/><Relationship Id="rId15" Type="http://schemas.openxmlformats.org/officeDocument/2006/relationships/image" Target="../media/image78.png"/><Relationship Id="rId16" Type="http://schemas.openxmlformats.org/officeDocument/2006/relationships/image" Target="../media/image80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71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74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78.png"/><Relationship Id="rId15" Type="http://schemas.openxmlformats.org/officeDocument/2006/relationships/image" Target="../media/image80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20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75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114.png"/><Relationship Id="rId18" Type="http://schemas.openxmlformats.org/officeDocument/2006/relationships/image" Target="../media/image115.png"/><Relationship Id="rId19" Type="http://schemas.openxmlformats.org/officeDocument/2006/relationships/image" Target="../media/image1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78.png"/><Relationship Id="rId16" Type="http://schemas.openxmlformats.org/officeDocument/2006/relationships/image" Target="../media/image80.png"/><Relationship Id="rId17" Type="http://schemas.openxmlformats.org/officeDocument/2006/relationships/image" Target="../media/image1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8.png"/><Relationship Id="rId10" Type="http://schemas.openxmlformats.org/officeDocument/2006/relationships/image" Target="../media/image135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138.png"/><Relationship Id="rId14" Type="http://schemas.openxmlformats.org/officeDocument/2006/relationships/image" Target="../media/image63.png"/><Relationship Id="rId15" Type="http://schemas.openxmlformats.org/officeDocument/2006/relationships/image" Target="../media/image139.png"/><Relationship Id="rId16" Type="http://schemas.openxmlformats.org/officeDocument/2006/relationships/image" Target="../media/image140.png"/><Relationship Id="rId17" Type="http://schemas.openxmlformats.org/officeDocument/2006/relationships/image" Target="../media/image1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20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148.png"/><Relationship Id="rId14" Type="http://schemas.openxmlformats.org/officeDocument/2006/relationships/image" Target="../media/image149.png"/><Relationship Id="rId15" Type="http://schemas.openxmlformats.org/officeDocument/2006/relationships/image" Target="../media/image150.png"/><Relationship Id="rId16" Type="http://schemas.openxmlformats.org/officeDocument/2006/relationships/image" Target="../media/image151.png"/><Relationship Id="rId17" Type="http://schemas.openxmlformats.org/officeDocument/2006/relationships/image" Target="../media/image152.png"/><Relationship Id="rId18" Type="http://schemas.openxmlformats.org/officeDocument/2006/relationships/image" Target="../media/image153.png"/><Relationship Id="rId19" Type="http://schemas.openxmlformats.org/officeDocument/2006/relationships/image" Target="../media/image154.png"/><Relationship Id="rId20" Type="http://schemas.openxmlformats.org/officeDocument/2006/relationships/image" Target="../media/image15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71.png"/><Relationship Id="rId8" Type="http://schemas.openxmlformats.org/officeDocument/2006/relationships/image" Target="../media/image160.png"/><Relationship Id="rId9" Type="http://schemas.openxmlformats.org/officeDocument/2006/relationships/image" Target="../media/image161.png"/><Relationship Id="rId10" Type="http://schemas.openxmlformats.org/officeDocument/2006/relationships/image" Target="../media/image74.png"/><Relationship Id="rId11" Type="http://schemas.openxmlformats.org/officeDocument/2006/relationships/image" Target="../media/image162.png"/><Relationship Id="rId12" Type="http://schemas.openxmlformats.org/officeDocument/2006/relationships/image" Target="../media/image80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20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174.png"/><Relationship Id="rId14" Type="http://schemas.openxmlformats.org/officeDocument/2006/relationships/image" Target="../media/image175.png"/><Relationship Id="rId15" Type="http://schemas.openxmlformats.org/officeDocument/2006/relationships/image" Target="../media/image17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71.png"/><Relationship Id="rId8" Type="http://schemas.openxmlformats.org/officeDocument/2006/relationships/image" Target="../media/image181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83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190.png"/><Relationship Id="rId14" Type="http://schemas.openxmlformats.org/officeDocument/2006/relationships/image" Target="../media/image19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Relationship Id="rId7" Type="http://schemas.openxmlformats.org/officeDocument/2006/relationships/image" Target="../media/image20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199.png"/><Relationship Id="rId14" Type="http://schemas.openxmlformats.org/officeDocument/2006/relationships/image" Target="../media/image166.png"/><Relationship Id="rId15" Type="http://schemas.openxmlformats.org/officeDocument/2006/relationships/image" Target="../media/image200.png"/><Relationship Id="rId16" Type="http://schemas.openxmlformats.org/officeDocument/2006/relationships/image" Target="../media/image201.png"/><Relationship Id="rId17" Type="http://schemas.openxmlformats.org/officeDocument/2006/relationships/image" Target="../media/image202.png"/><Relationship Id="rId18" Type="http://schemas.openxmlformats.org/officeDocument/2006/relationships/image" Target="../media/image203.png"/><Relationship Id="rId19" Type="http://schemas.openxmlformats.org/officeDocument/2006/relationships/image" Target="../media/image20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09.png"/><Relationship Id="rId11" Type="http://schemas.openxmlformats.org/officeDocument/2006/relationships/image" Target="../media/image210.png"/><Relationship Id="rId12" Type="http://schemas.openxmlformats.org/officeDocument/2006/relationships/image" Target="../media/image80.png"/><Relationship Id="rId13" Type="http://schemas.openxmlformats.org/officeDocument/2006/relationships/image" Target="../media/image211.png"/><Relationship Id="rId14" Type="http://schemas.openxmlformats.org/officeDocument/2006/relationships/image" Target="../media/image2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3.png"/><Relationship Id="rId4" Type="http://schemas.openxmlformats.org/officeDocument/2006/relationships/image" Target="../media/image214.png"/><Relationship Id="rId5" Type="http://schemas.openxmlformats.org/officeDocument/2006/relationships/image" Target="../media/image215.png"/><Relationship Id="rId6" Type="http://schemas.openxmlformats.org/officeDocument/2006/relationships/image" Target="../media/image216.png"/><Relationship Id="rId7" Type="http://schemas.openxmlformats.org/officeDocument/2006/relationships/image" Target="../media/image133.png"/><Relationship Id="rId8" Type="http://schemas.openxmlformats.org/officeDocument/2006/relationships/image" Target="../media/image217.png"/><Relationship Id="rId9" Type="http://schemas.openxmlformats.org/officeDocument/2006/relationships/image" Target="../media/image8.png"/><Relationship Id="rId10" Type="http://schemas.openxmlformats.org/officeDocument/2006/relationships/image" Target="../media/image136.png"/><Relationship Id="rId11" Type="http://schemas.openxmlformats.org/officeDocument/2006/relationships/image" Target="../media/image218.png"/><Relationship Id="rId12" Type="http://schemas.openxmlformats.org/officeDocument/2006/relationships/image" Target="../media/image137.png"/><Relationship Id="rId13" Type="http://schemas.openxmlformats.org/officeDocument/2006/relationships/image" Target="../media/image219.png"/><Relationship Id="rId14" Type="http://schemas.openxmlformats.org/officeDocument/2006/relationships/image" Target="../media/image220.png"/><Relationship Id="rId15" Type="http://schemas.openxmlformats.org/officeDocument/2006/relationships/image" Target="../media/image139.png"/><Relationship Id="rId16" Type="http://schemas.openxmlformats.org/officeDocument/2006/relationships/image" Target="../media/image221.png"/><Relationship Id="rId17" Type="http://schemas.openxmlformats.org/officeDocument/2006/relationships/image" Target="../media/image2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0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image" Target="../media/image229.png"/><Relationship Id="rId11" Type="http://schemas.openxmlformats.org/officeDocument/2006/relationships/image" Target="../media/image75.png"/><Relationship Id="rId12" Type="http://schemas.openxmlformats.org/officeDocument/2006/relationships/image" Target="../media/image230.png"/><Relationship Id="rId13" Type="http://schemas.openxmlformats.org/officeDocument/2006/relationships/image" Target="../media/image231.png"/><Relationship Id="rId14" Type="http://schemas.openxmlformats.org/officeDocument/2006/relationships/image" Target="../media/image80.png"/><Relationship Id="rId15" Type="http://schemas.openxmlformats.org/officeDocument/2006/relationships/image" Target="../media/image232.png"/><Relationship Id="rId16" Type="http://schemas.openxmlformats.org/officeDocument/2006/relationships/image" Target="../media/image2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0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245.png"/><Relationship Id="rId6" Type="http://schemas.openxmlformats.org/officeDocument/2006/relationships/image" Target="../media/image246.png"/><Relationship Id="rId7" Type="http://schemas.openxmlformats.org/officeDocument/2006/relationships/image" Target="../media/image71.png"/><Relationship Id="rId8" Type="http://schemas.openxmlformats.org/officeDocument/2006/relationships/image" Target="../media/image247.png"/><Relationship Id="rId9" Type="http://schemas.openxmlformats.org/officeDocument/2006/relationships/image" Target="../media/image248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80.png"/><Relationship Id="rId13" Type="http://schemas.openxmlformats.org/officeDocument/2006/relationships/image" Target="../media/image249.png"/><Relationship Id="rId14" Type="http://schemas.openxmlformats.org/officeDocument/2006/relationships/image" Target="../media/image2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1.png"/><Relationship Id="rId4" Type="http://schemas.openxmlformats.org/officeDocument/2006/relationships/image" Target="../media/image252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0.png"/><Relationship Id="rId8" Type="http://schemas.openxmlformats.org/officeDocument/2006/relationships/image" Target="../media/image255.png"/><Relationship Id="rId9" Type="http://schemas.openxmlformats.org/officeDocument/2006/relationships/image" Target="../media/image256.png"/><Relationship Id="rId10" Type="http://schemas.openxmlformats.org/officeDocument/2006/relationships/image" Target="../media/image257.png"/><Relationship Id="rId11" Type="http://schemas.openxmlformats.org/officeDocument/2006/relationships/image" Target="../media/image258.png"/><Relationship Id="rId12" Type="http://schemas.openxmlformats.org/officeDocument/2006/relationships/image" Target="../media/image259.png"/><Relationship Id="rId13" Type="http://schemas.openxmlformats.org/officeDocument/2006/relationships/image" Target="../media/image51.png"/><Relationship Id="rId14" Type="http://schemas.openxmlformats.org/officeDocument/2006/relationships/image" Target="../media/image260.png"/><Relationship Id="rId15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1.png"/><Relationship Id="rId4" Type="http://schemas.openxmlformats.org/officeDocument/2006/relationships/image" Target="../media/image262.png"/><Relationship Id="rId5" Type="http://schemas.openxmlformats.org/officeDocument/2006/relationships/image" Target="../media/image263.png"/><Relationship Id="rId6" Type="http://schemas.openxmlformats.org/officeDocument/2006/relationships/image" Target="../media/image132.png"/><Relationship Id="rId7" Type="http://schemas.openxmlformats.org/officeDocument/2006/relationships/image" Target="../media/image6.png"/><Relationship Id="rId8" Type="http://schemas.openxmlformats.org/officeDocument/2006/relationships/image" Target="../media/image134.png"/><Relationship Id="rId9" Type="http://schemas.openxmlformats.org/officeDocument/2006/relationships/image" Target="../media/image8.png"/><Relationship Id="rId10" Type="http://schemas.openxmlformats.org/officeDocument/2006/relationships/image" Target="../media/image136.png"/><Relationship Id="rId11" Type="http://schemas.openxmlformats.org/officeDocument/2006/relationships/image" Target="../media/image264.png"/><Relationship Id="rId12" Type="http://schemas.openxmlformats.org/officeDocument/2006/relationships/image" Target="../media/image265.png"/><Relationship Id="rId13" Type="http://schemas.openxmlformats.org/officeDocument/2006/relationships/image" Target="../media/image266.png"/><Relationship Id="rId14" Type="http://schemas.openxmlformats.org/officeDocument/2006/relationships/image" Target="../media/image63.png"/><Relationship Id="rId15" Type="http://schemas.openxmlformats.org/officeDocument/2006/relationships/image" Target="../media/image139.png"/><Relationship Id="rId16" Type="http://schemas.openxmlformats.org/officeDocument/2006/relationships/image" Target="../media/image267.png"/><Relationship Id="rId17" Type="http://schemas.openxmlformats.org/officeDocument/2006/relationships/image" Target="../media/image2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전통놀이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Koreys an'anaviy o'yinlari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안녕하세요!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Assalomu alaykum!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6629400"/>
            <a:ext cx="8978900" cy="146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69342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8382000"/>
            <a:ext cx="89789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8699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33300" y="6629400"/>
            <a:ext cx="89789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042900" y="69342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33300" y="8382000"/>
            <a:ext cx="89789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900" y="86995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4584700" y="69342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명절 소개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bayramlari bilan tanishuv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84700" y="8699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기념일 소개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xotira kunlari bilan tanishuv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47800" y="6934200"/>
            <a:ext cx="7289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 체험 - 팽이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an'anaviy hunarmandchiligi – pirildoq (top)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47800" y="8699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활동 소감 나누기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Mashg'ulot taassurotlari bilan o'rtoqlashish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313400" y="8509000"/>
            <a:ext cx="2959100" cy="5486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904200" y="8509000"/>
            <a:ext cx="3479800" cy="5486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532100" y="10934700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떠올려보기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Eslab ko'raylik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5000" y="5676900"/>
            <a:ext cx="8636000" cy="596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58700" y="5676900"/>
            <a:ext cx="8750300" cy="596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활동 목표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Mashg'ulot maqsadi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6540500"/>
            <a:ext cx="18300700" cy="146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68580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296400"/>
            <a:ext cx="184404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96266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584700" y="68580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한국의 전통 명절과 전통문화에 대한 이해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Koreyaning an'anaviy bayramlari va milliy madaniyatini tushunish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4700" y="96012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체험 활동을 통한 문화 교류 및 공동체적 소통 경험 확대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Amaliy mashg'ulotlar orqali madaniy almashinuv va jamoaviy muloqot tajribasini kengaytirish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22900" y="5511800"/>
            <a:ext cx="13398500" cy="2273300"/>
          </a:xfrm>
          <a:prstGeom prst="rect">
            <a:avLst/>
          </a:prstGeom>
        </p:spPr>
        <p:txBody>
          <a:bodyPr lIns="0" tIns="373876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명절과 기념일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4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sz="2666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bayramlari va esdalik sanalari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2032000" y="3581400"/>
            <a:ext cx="7543800" cy="642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3797300"/>
            <a:ext cx="7200900" cy="631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5232400"/>
            <a:ext cx="10236200" cy="184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7467600"/>
            <a:ext cx="10236200" cy="184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9677400"/>
            <a:ext cx="10236200" cy="184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33200" y="1028700"/>
            <a:ext cx="1117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18034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설날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2900" y="39116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sz="2464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Seollal / Koreya yangi yili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0" y="57531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음력 1월 1일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Oy taqvimi bo'yicha 1-yanvar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9756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대표 음식: 떡국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Milliy taom: tteokguk (guruch cho'zma sho'rvasi)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4700" y="10198100"/>
            <a:ext cx="9423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 놀이: 윷놀이, 연날리기, 널뛰기 등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o'yinlar: yunnori, varrak uchirish, neolttwigi va h.k.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830800" y="3302000"/>
            <a:ext cx="3632200" cy="3263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0400" y="7937500"/>
            <a:ext cx="48387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2032000" y="3581400"/>
            <a:ext cx="7543800" cy="642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3797300"/>
            <a:ext cx="7200900" cy="631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5232400"/>
            <a:ext cx="10236200" cy="184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7467600"/>
            <a:ext cx="10236200" cy="184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9677400"/>
            <a:ext cx="10236200" cy="184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33200" y="1028700"/>
            <a:ext cx="1117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18034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정월 대보름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05104" y="3911599"/>
            <a:ext cx="8965512" cy="426055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sz="2464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Jeongwol Daeboreum / Buyuk to'lin oy festivali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0" y="57531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음력 1월 15일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Oy taqvimi bo'yicha 15-yanvar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975600"/>
            <a:ext cx="767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대표 음식: 오곡밥, 견과류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Milliy taom: besh donli guruch, yong'oq-mag'iz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4700" y="10198100"/>
            <a:ext cx="9423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 놀이: 쥐불놀이, 강강술래 등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o'yinlar: jwibulnori, ganggangsullae va h.k.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0400" y="7937500"/>
            <a:ext cx="4838700" cy="398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364200" y="3289300"/>
            <a:ext cx="26543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2032000" y="3581400"/>
            <a:ext cx="7543800" cy="642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3797300"/>
            <a:ext cx="7200900" cy="631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5232400"/>
            <a:ext cx="10236200" cy="184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7467600"/>
            <a:ext cx="10236200" cy="184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9677400"/>
            <a:ext cx="10236200" cy="184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33200" y="1028700"/>
            <a:ext cx="1117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18034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추석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2900" y="3911600"/>
            <a:ext cx="5918200" cy="4445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sz="2464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Chuseok / Koreya minnatdorchilik kuni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0" y="57531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음력 8월 15일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Oy taqvimi bo'yicha 15-avgust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9756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대표 음식: 송편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Milliy taom: songpyeon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4700" y="10198100"/>
            <a:ext cx="9423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 놀이: 줄다리기, 씨름, 활쏘기 등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o'yinlar: arqon tortish, ssireum (kurash), kamon otish va h.k.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40400" y="7937500"/>
            <a:ext cx="4838700" cy="398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87600" y="3797300"/>
            <a:ext cx="66675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2032000" y="3581400"/>
            <a:ext cx="7543800" cy="642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3797300"/>
            <a:ext cx="7200900" cy="631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5232400"/>
            <a:ext cx="10236200" cy="184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7467600"/>
            <a:ext cx="10236200" cy="184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9677400"/>
            <a:ext cx="10236200" cy="184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33200" y="1028700"/>
            <a:ext cx="1117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18034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어린이날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2900" y="3911600"/>
            <a:ext cx="5918200" cy="4318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sz="2464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Eolin-inal / Bolalar kuni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0" y="57531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양력 5월 5일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Quyosh taqvimi bo'yicha 5-may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975600"/>
            <a:ext cx="8991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가족, 친구들과 함께 먹는 음식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Oila va do'stlar bilan birga yeyiladigan taomlar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4700" y="10198100"/>
            <a:ext cx="9423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가족, 친구들과 함께 즐기는 놀이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Oila va do'stlar bilan birga o'ynaladigan o'yinlar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0400" y="7937500"/>
            <a:ext cx="4838700" cy="398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68700" y="3822700"/>
            <a:ext cx="5486400" cy="1041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233900" y="4724400"/>
            <a:ext cx="3200400" cy="2070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2032000" y="3581400"/>
            <a:ext cx="7543800" cy="642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1900" y="3797300"/>
            <a:ext cx="7200900" cy="631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74000"/>
          </a:blip>
          <a:stretch>
            <a:fillRect/>
          </a:stretch>
        </p:blipFill>
        <p:spPr>
          <a:xfrm>
            <a:off x="11518900" y="5232400"/>
            <a:ext cx="10236200" cy="184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7467600"/>
            <a:ext cx="10236200" cy="184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74000"/>
          </a:blip>
          <a:stretch>
            <a:fillRect/>
          </a:stretch>
        </p:blipFill>
        <p:spPr>
          <a:xfrm>
            <a:off x="11518900" y="9677400"/>
            <a:ext cx="10236200" cy="184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633200" y="1028700"/>
            <a:ext cx="1117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33800" y="18034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광복절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32900" y="3911600"/>
            <a:ext cx="5918200" cy="431800"/>
          </a:xfrm>
          <a:prstGeom prst="rect">
            <a:avLst/>
          </a:prstGeom>
        </p:spPr>
        <p:txBody>
          <a:bodyPr lIns="0" tIns="31300" rIns="0" bIns="0" rtlCol="0" anchor="t"/>
          <a:lstStyle/>
          <a:p>
            <a:pPr lvl="0" algn="ctr">
              <a:lnSpc>
                <a:spcPct val="99600"/>
              </a:lnSpc>
            </a:pPr>
            <a:r>
              <a:rPr sz="2464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Gwangbogjeol / Koreya ozodlik kuni</a:t>
            </a:r>
            <a:endParaRPr lang="en-US" sz="2464" b="0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92000" y="57531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양력 8월 15일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Quyosh taqvimi bo'yicha 15-avgust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04700" y="7975600"/>
            <a:ext cx="9296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일제에서 벗어나고 대한민국 정부 수립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Yaponiya mustamlakasidan ozod bo'lish va Koreya Respublikasi hukumatining tashkil etilishi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04700" y="10198100"/>
            <a:ext cx="94234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태극기 게양하기</a:t>
            </a:r>
          </a:p>
          <a:p>
            <a:pPr algn="l">
              <a:spcBef>
                <a:spcPts val="400"/>
              </a:spcBef>
            </a:pPr>
            <a:r>
              <a:rPr sz="26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Milliy bayroq (Taegukgi)ni ko'tarish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0400" y="7937500"/>
            <a:ext cx="48387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놀이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sz="2666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koreys o'yinlari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공기놀이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Gonggi (toshcha o'yini)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676900"/>
            <a:ext cx="12293600" cy="1384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01300" y="59817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0" y="7353300"/>
            <a:ext cx="12293600" cy="13843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401300" y="7645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9800" y="9004300"/>
            <a:ext cx="12293600" cy="1384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401300" y="92964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53800" y="5981700"/>
            <a:ext cx="98552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공깃돌을 뿌리기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Toshchalarni yerga sochish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800" y="7645400"/>
            <a:ext cx="102235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하늘로 돌을 던지고, 바닥에 있는 돌을 집기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Bitta toshni yuqoriga otib, yerdagi toshni olish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800" y="9296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더 이상 바닥에 돌이 없을 때까지 반복하기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 tosh qolmaguncha takrorlash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다섯 개의 작고 동그란 돌을 던져 손으로 잡으며 노는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Beshta kichik dumaloq toshni otib, qo'l bilan ilib o'ynaladigan o'yin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689600"/>
            <a:ext cx="5499100" cy="471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10629900"/>
            <a:ext cx="12293600" cy="1384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401300" y="10922000"/>
            <a:ext cx="11176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 spc="-2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53800" y="10947400"/>
            <a:ext cx="9664700" cy="7620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293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공기를 손등에 올린 후 채어잡기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Toshlarni qo'l ustiga qo'yib, so'ng ilib olish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774700" y="8128000"/>
            <a:ext cx="4737100" cy="6426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55900" y="9512300"/>
            <a:ext cx="7073900" cy="556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3695700" y="10820400"/>
            <a:ext cx="5194300" cy="2768600"/>
          </a:xfrm>
          <a:prstGeom prst="rect">
            <a:avLst/>
          </a:prstGeom>
        </p:spPr>
        <p:txBody>
          <a:bodyPr lIns="0" tIns="46901" rIns="0" bIns="0" rtlCol="0" anchor="t"/>
          <a:lstStyle/>
          <a:p>
            <a:pPr lvl="0" algn="ctr">
              <a:spcBef>
                <a:spcPts val="0"/>
              </a:spcBef>
              <a:lnSpc>
                <a:spcPct val="108000"/>
              </a:lnSpc>
            </a:pPr>
            <a:r>
              <a:rPr lang="en-US" sz="351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바닥에 있는 돌을 집을 때</a:t>
            </a:r>
          </a:p>
          <a:p>
            <a:pPr lvl="0" algn="ctr">
              <a:spcBef>
                <a:spcPts val="0"/>
              </a:spcBef>
              <a:lnSpc>
                <a:spcPct val="108000"/>
              </a:lnSpc>
            </a:pPr>
            <a:r>
              <a:rPr lang="en-US" sz="351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주변 돌을 건드리면 실패!</a:t>
            </a:r>
          </a:p>
          <a:p>
            <a:pPr lvl="0" algn="ctr">
              <a:spcBef>
                <a:spcPts val="0"/>
              </a:spcBef>
              <a:lnSpc>
                <a:spcPct val="108000"/>
              </a:lnSpc>
            </a:pPr>
            <a:r>
              <a:rPr lang="en-US" sz="351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한 번에 집는 돌의 개수를 늘려 가다가</a:t>
            </a:r>
          </a:p>
          <a:p>
            <a:pPr lvl="0" algn="ctr">
              <a:spcBef>
                <a:spcPts val="0"/>
              </a:spcBef>
              <a:lnSpc>
                <a:spcPct val="108000"/>
              </a:lnSpc>
            </a:pPr>
            <a:r>
              <a:rPr lang="en-US" sz="351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다섯 개가 되면 채어잡기!</a:t>
            </a:r>
          </a:p>
          <a:p>
            <a:pPr algn="ctr">
              <a:spcBef>
                <a:spcPts val="800"/>
              </a:spcBef>
              <a:lnSpc>
                <a:spcPct val="100000"/>
              </a:lnSpc>
            </a:pPr>
            <a:r>
              <a:rPr sz="18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Toshni olayotganda boshqasiga tegmang!</a:t>
            </a:r>
          </a:p>
          <a:p>
            <a:pPr algn="ctr">
              <a:spcBef>
                <a:spcPts val="200"/>
              </a:spcBef>
              <a:lnSpc>
                <a:spcPct val="100000"/>
              </a:lnSpc>
            </a:pPr>
            <a:r>
              <a:rPr sz="18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Sonini oshirib, beshtada hammasini iling!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제기차기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Jegichagi (patcha tepish)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2800" y="3556000"/>
            <a:ext cx="7404100" cy="8509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손으로 제기 쥐기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qo'l bilan ushlash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가볍게 던져 올리기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Yengilgina yuqoriga otish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77600" y="9550400"/>
            <a:ext cx="102108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떨어지지 않게 계속해서 차기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Yerga tushirmasdan doimiy tepib turish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7">
            <a:alphaModFix amt="52000"/>
          </a:blip>
          <a:stretch>
            <a:fillRect/>
          </a:stretch>
        </p:blipFill>
        <p:spPr>
          <a:xfrm>
            <a:off x="9664700" y="4368800"/>
            <a:ext cx="12458700" cy="10795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1049000" y="4559300"/>
            <a:ext cx="98044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제기를 가지고 발로 차는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Jegini oyoq bilan tepib o'ynaladigan o'yin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(tosh ag'darish o'yini)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527300" y="4559300"/>
            <a:ext cx="193421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손바닥 크기의 네모난 돌을 손으로 던지거나 발로 차서 상대의 비석을 맞춰 쓰러뜨리는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Kaft kattaligidagi to'rtburchak toshni qo'l bilan otib yoki oyoq bilan tepib, raqib toshini urib ag'daradigan o'yin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2500" y="5753100"/>
            <a:ext cx="7759700" cy="655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74600" y="5753100"/>
            <a:ext cx="872490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(tosh ag'darish o'yini)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57500" y="3822700"/>
            <a:ext cx="9359900" cy="8585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6000" y="3822700"/>
            <a:ext cx="9080500" cy="848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비석치기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Biseokchigi (tosh ag'darish o'yini)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3822700"/>
            <a:ext cx="8699500" cy="8585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42800" y="3822700"/>
            <a:ext cx="9156700" cy="8585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딱지치기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Ttakjichigi (qog'oz plastinka o'yini)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700" y="5727700"/>
            <a:ext cx="12458700" cy="1460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74300" y="60325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4700" y="7480300"/>
            <a:ext cx="12458700" cy="14605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74300" y="77978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4700" y="9232900"/>
            <a:ext cx="12458700" cy="1460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274300" y="95504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77600" y="6032500"/>
            <a:ext cx="49530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가위바위보 하기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Tosh-qaychi-qog'oz o'ynash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0" y="7797800"/>
            <a:ext cx="7124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진 사람: 딱지 내려놓기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Yutqazgan: ttakjisini yerga qo'yadi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14100" y="9550400"/>
            <a:ext cx="10325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이긴 사람: 내 딱지로 상대의 딱지 내려치기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Yutgan: o'z ttakjisi bilan raqibnikini uradi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바닥에 놓인 상대방의 딱지를 내 딱지로 쳐서 뒤집거나 선 밖으로 밀어내는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Yerdagi raqib ttakjisini o'z ttakjing bilan urib ag'darish yoki chiziqdan chiqarish o'yini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60600" y="5727700"/>
            <a:ext cx="6946900" cy="4991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0165574">
            <a:off x="19062700" y="1536700"/>
            <a:ext cx="3530600" cy="3530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>
            <a:alphaModFix amt="52000"/>
          </a:blip>
          <a:stretch>
            <a:fillRect/>
          </a:stretch>
        </p:blipFill>
        <p:spPr>
          <a:xfrm>
            <a:off x="2260600" y="10985500"/>
            <a:ext cx="19862800" cy="10795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4102100" y="11163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상대 딱지가 뒤집어지거나, 바람에 넘어가면 그 딱지를 획득!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Raqib ttakjisi ag'darilsa yoki shamolda uchsa – o'sha ttakji seniki!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Paengichigi (pirildoq aylantirish)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1200" y="5448300"/>
            <a:ext cx="18122900" cy="704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팽이를 채로 쳐서 돌리는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Pirildoqni qamchi bilan urib aylantiriladigan o'yin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한국 전통 공예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0900" y="3721100"/>
            <a:ext cx="20066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951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sz="2666" b="1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Koreya an'anaviy hunarmandchiligi</a:t>
            </a:r>
            <a:endParaRPr lang="en-US" sz="2666" b="1" i="0" u="none" strike="noStrike" dirty="0">
              <a:solidFill>
                <a:srgbClr val="353535"/>
              </a:solidFill>
              <a:latin typeface="S-Core Dream 3 Light"/>
              <a:ea typeface="S-Core Dream 3 Light"/>
              <a:cs typeface="S-Core Dream 3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 rot="-1500000">
            <a:off x="3225800" y="3848100"/>
            <a:ext cx="8864600" cy="754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1900" y="4102100"/>
            <a:ext cx="8445500" cy="7416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 팽이 꾸미기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pirildoqni bezash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58800" y="4102100"/>
            <a:ext cx="7759700" cy="7937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54000" y="4140200"/>
            <a:ext cx="8547100" cy="7861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전통 팽이 꾸미기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An'anaviy pirildoqni bezash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>
            <a:alphaModFix amt="52000"/>
          </a:blip>
          <a:stretch>
            <a:fillRect/>
          </a:stretch>
        </p:blipFill>
        <p:spPr>
          <a:xfrm>
            <a:off x="4089400" y="10972800"/>
            <a:ext cx="16459200" cy="1079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013200" y="111506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나무 팽이에 사인펜, 색연필로 그림을 그려 꾸미기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Yog'och pirildoqni flomaster va rangli qalamlar bilan bezash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1400" y="3860800"/>
            <a:ext cx="11899900" cy="6832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546100"/>
            <a:ext cx="2133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977900"/>
            <a:ext cx="21932900" cy="1165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673100"/>
            <a:ext cx="1524000" cy="787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014200" y="1028700"/>
            <a:ext cx="355600" cy="533400"/>
          </a:xfrm>
          <a:prstGeom prst="rect">
            <a:avLst/>
          </a:prstGeom>
        </p:spPr>
        <p:txBody>
          <a:bodyPr lIns="0" tIns="3774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71" b="0" i="0" u="none" strike="noStrike" cap="all">
                <a:solidFill>
                  <a:srgbClr val="8CAA7D"/>
                </a:solidFill>
                <a:latin typeface="S-Core Dream 8 Heavy"/>
                <a:ea typeface="S-Core Dream 8 Heavy"/>
                <a:cs typeface="S-Core Dream 8 Heavy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21100" y="1562100"/>
            <a:ext cx="169418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팽이치기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Paengichigi (pirildoq aylantirish)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1200" y="5448300"/>
            <a:ext cx="18122900" cy="704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>
            <a:alphaModFix amt="52000"/>
          </a:blip>
          <a:stretch>
            <a:fillRect/>
          </a:stretch>
        </p:blipFill>
        <p:spPr>
          <a:xfrm>
            <a:off x="2260600" y="4368800"/>
            <a:ext cx="19862800" cy="107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152900" y="4559300"/>
            <a:ext cx="167005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9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팽이를 채로 쳐서 돌리는 놀이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Pirildoqni qamchi bilan urib aylantiriladigan o'yin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 rot="1860000">
            <a:off x="-1460500" y="-3429000"/>
            <a:ext cx="7493000" cy="8216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19980000">
            <a:off x="-1803400" y="9448800"/>
            <a:ext cx="7251700" cy="6515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7526000" y="-4229100"/>
            <a:ext cx="7048500" cy="715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77000"/>
          </a:blip>
          <a:stretch>
            <a:fillRect/>
          </a:stretch>
        </p:blipFill>
        <p:spPr>
          <a:xfrm rot="8520000">
            <a:off x="17932400" y="9779000"/>
            <a:ext cx="8255000" cy="558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91000"/>
          </a:blip>
          <a:stretch>
            <a:fillRect/>
          </a:stretch>
        </p:blipFill>
        <p:spPr>
          <a:xfrm rot="240000">
            <a:off x="20751800" y="7708900"/>
            <a:ext cx="6667500" cy="627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72000"/>
          </a:blip>
          <a:stretch>
            <a:fillRect/>
          </a:stretch>
        </p:blipFill>
        <p:spPr>
          <a:xfrm rot="12840000">
            <a:off x="20599400" y="-1625600"/>
            <a:ext cx="4813300" cy="377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72000"/>
          </a:blip>
          <a:stretch>
            <a:fillRect/>
          </a:stretch>
        </p:blipFill>
        <p:spPr>
          <a:xfrm rot="5940000">
            <a:off x="-482600" y="10147300"/>
            <a:ext cx="3848100" cy="511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0" y="546100"/>
            <a:ext cx="33147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1879600"/>
            <a:ext cx="20967700" cy="1074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6600" y="952500"/>
            <a:ext cx="2108200" cy="1028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016500" y="2540000"/>
            <a:ext cx="14376400" cy="2273300"/>
          </a:xfrm>
          <a:prstGeom prst="rect">
            <a:avLst/>
          </a:prstGeom>
        </p:spPr>
        <p:txBody>
          <a:bodyPr lIns="0" tIns="372658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2757" b="0" i="0" u="none" strike="noStrike" cap="all" spc="-400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오늘의 활동 마무리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Bugungi mashg'ulot yakuni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6540500"/>
            <a:ext cx="18300700" cy="1460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3581400" y="6858000"/>
            <a:ext cx="11811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F7B769"/>
                </a:solidFill>
                <a:latin typeface="KCC-Ganpan"/>
                <a:ea typeface="KCC-Ganpan"/>
                <a:cs typeface="KCC-Ganpan"/>
              </a:rPr>
              <a:t>01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71800" y="9296400"/>
            <a:ext cx="18440400" cy="1460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581400" y="9626600"/>
            <a:ext cx="12827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 spc="-300">
                <a:solidFill>
                  <a:srgbClr val="A9C73F"/>
                </a:solidFill>
                <a:latin typeface="KCC-Ganpan"/>
                <a:ea typeface="KCC-Ganpan"/>
                <a:cs typeface="KCC-Ganpan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1600" y="1562100"/>
            <a:ext cx="825500" cy="825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584700" y="68580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모두 함께 활동 소감 이야기 나누기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Hammamiz birga mashg'ulot taassurotlarini o'rtoqlashamiz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4700" y="9601200"/>
            <a:ext cx="16484600" cy="812800"/>
          </a:xfrm>
          <a:prstGeom prst="rect">
            <a:avLst/>
          </a:prstGeom>
        </p:spPr>
        <p:txBody>
          <a:bodyPr lIns="0" tIns="132522" rIns="0" bIns="0" rtlCol="0" anchor="t"/>
          <a:lstStyle/>
          <a:p>
            <a:pPr lvl="0" algn="l">
              <a:lnSpc>
                <a:spcPct val="78020"/>
              </a:lnSpc>
            </a:pPr>
            <a:r>
              <a:rPr lang="en-US" sz="4536" b="0" i="0" u="none" strike="noStrike" cap="all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학습 및 활동 내용 요약</a:t>
            </a:r>
          </a:p>
          <a:p>
            <a:pPr algn="l">
              <a:spcBef>
                <a:spcPts val="400"/>
              </a:spcBef>
            </a:pPr>
            <a:r>
              <a:rPr sz="24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O'rganilgan va bajarilgan ishlar mazmunini umumlashtirish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B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9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7526000" y="9613900"/>
            <a:ext cx="7048500" cy="7150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-1860000">
            <a:off x="-1460500" y="7747000"/>
            <a:ext cx="7493000" cy="821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77000"/>
          </a:blip>
          <a:stretch>
            <a:fillRect/>
          </a:stretch>
        </p:blipFill>
        <p:spPr>
          <a:xfrm rot="13080000">
            <a:off x="17932400" y="-2819400"/>
            <a:ext cx="8255000" cy="558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3784600" y="2641600"/>
            <a:ext cx="16802100" cy="883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384800" y="5511800"/>
            <a:ext cx="13462000" cy="2705100"/>
          </a:xfrm>
          <a:prstGeom prst="rect">
            <a:avLst/>
          </a:prstGeom>
        </p:spPr>
        <p:txBody>
          <a:bodyPr lIns="0" tIns="443980" rIns="0" bIns="0" rtlCol="0" anchor="t"/>
          <a:lstStyle/>
          <a:p>
            <a:pPr lvl="0" algn="ctr">
              <a:lnSpc>
                <a:spcPct val="78020"/>
              </a:lnSpc>
            </a:pPr>
            <a:r>
              <a:rPr lang="en-US" sz="15199" b="0" i="0" u="none" strike="noStrike">
                <a:solidFill>
                  <a:srgbClr val="353535"/>
                </a:solidFill>
                <a:latin typeface="KCC-Ganpan"/>
                <a:ea typeface="KCC-Ganpan"/>
                <a:cs typeface="KCC-Ganpan"/>
              </a:rPr>
              <a:t>감사합니다!</a:t>
            </a:r>
          </a:p>
          <a:p>
            <a:pPr algn="ctr">
              <a:spcBef>
                <a:spcPts val="800"/>
              </a:spcBef>
            </a:pPr>
            <a:r>
              <a:rPr sz="4000" b="0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Rahmat!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9500" y="3721100"/>
            <a:ext cx="4292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52000"/>
          </a:blip>
          <a:stretch>
            <a:fillRect/>
          </a:stretch>
        </p:blipFill>
        <p:spPr>
          <a:xfrm>
            <a:off x="8305800" y="8636000"/>
            <a:ext cx="76327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9400" y="4292600"/>
            <a:ext cx="825500" cy="82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">
            <a:off x="4241800" y="10896600"/>
            <a:ext cx="1498600" cy="179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">
            <a:off x="3251200" y="10617200"/>
            <a:ext cx="1498600" cy="179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 rot="1620000">
            <a:off x="-1803400" y="-3429000"/>
            <a:ext cx="7251700" cy="651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>
            <a:alphaModFix amt="40000"/>
          </a:blip>
          <a:stretch>
            <a:fillRect/>
          </a:stretch>
        </p:blipFill>
        <p:spPr>
          <a:xfrm rot="6900000">
            <a:off x="9855200" y="-2425700"/>
            <a:ext cx="4229100" cy="463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>
            <a:alphaModFix amt="91000"/>
          </a:blip>
          <a:stretch>
            <a:fillRect/>
          </a:stretch>
        </p:blipFill>
        <p:spPr>
          <a:xfrm rot="21360000">
            <a:off x="20751800" y="-1435100"/>
            <a:ext cx="6667500" cy="627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>
            <a:alphaModFix amt="91000"/>
          </a:blip>
          <a:stretch>
            <a:fillRect/>
          </a:stretch>
        </p:blipFill>
        <p:spPr>
          <a:xfrm rot="10380000">
            <a:off x="-3060700" y="6172200"/>
            <a:ext cx="6959600" cy="657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>
            <a:alphaModFix amt="72000"/>
          </a:blip>
          <a:stretch>
            <a:fillRect/>
          </a:stretch>
        </p:blipFill>
        <p:spPr>
          <a:xfrm rot="-12840000">
            <a:off x="20256500" y="9486900"/>
            <a:ext cx="4813300" cy="377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alphaModFix amt="72000"/>
          </a:blip>
          <a:stretch>
            <a:fillRect/>
          </a:stretch>
        </p:blipFill>
        <p:spPr>
          <a:xfrm rot="15660000">
            <a:off x="165100" y="-1473200"/>
            <a:ext cx="3848100" cy="5118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839200" y="8940800"/>
            <a:ext cx="65532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b="1" i="0" u="none" strike="noStrike">
                <a:solidFill>
                  <a:srgbClr val="353535"/>
                </a:solidFill>
                <a:latin typeface="S-Core Dream 3 Light"/>
                <a:ea typeface="S-Core Dream 3 Light"/>
                <a:cs typeface="S-Core Dream 3 Light"/>
              </a:rPr>
              <a:t>SCHOOL #107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381</Words>
  <Application>Microsoft Office PowerPoint</Application>
  <PresentationFormat>사용자 지정</PresentationFormat>
  <Paragraphs>112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S-Core Dream 3 Light</vt:lpstr>
      <vt:lpstr>Arial</vt:lpstr>
      <vt:lpstr>S-Core Dream 8 Heavy</vt:lpstr>
      <vt:lpstr>Calibri</vt:lpstr>
      <vt:lpstr>KCC-Ganpan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이다은</dc:creator>
  <cp:lastModifiedBy>장지훈</cp:lastModifiedBy>
  <cp:revision>2</cp:revision>
  <dcterms:created xsi:type="dcterms:W3CDTF">2006-08-16T00:00:00Z</dcterms:created>
  <dcterms:modified xsi:type="dcterms:W3CDTF">2026-06-28T14:16:37Z</dcterms:modified>
</cp:coreProperties>
</file>