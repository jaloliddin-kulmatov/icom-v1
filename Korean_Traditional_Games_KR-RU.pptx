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24384000" cy="13716000"/>
  <p:notesSz cx="6858000" cy="9144000"/>
  <p:embeddedFontLst>
    <p:embeddedFont>
      <p:font typeface="KCC-Ganpan" panose="02000600000000000000"/>
      <p:regular r:id="rId10"/>
    </p:embeddedFont>
    <p:embeddedFont>
      <p:font typeface="S-Core Dream 3 Light" panose="020B0600000101010101" pitchFamily="34" charset="-127"/>
      <p:regular r:id="rId11"/>
      <p:bold r:id="rId12"/>
      <p:italic r:id="rId13"/>
      <p:boldItalic r:id="rId14"/>
    </p:embeddedFont>
    <p:embeddedFont>
      <p:font typeface="S-Core Dream 8 Heavy" panose="020B070402020202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53" autoAdjust="0"/>
  </p:normalViewPr>
  <p:slideViewPr>
    <p:cSldViewPr>
      <p:cViewPr varScale="1">
        <p:scale>
          <a:sx n="50" d="100"/>
          <a:sy n="50" d="100"/>
        </p:scale>
        <p:origin x="904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Relationship Id="rId19" Type="http://schemas.openxmlformats.org/officeDocument/2006/relationships/image" Target="../media/image33.png"/><Relationship Id="rId20" Type="http://schemas.openxmlformats.org/officeDocument/2006/relationships/image" Target="../media/image3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21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42.png"/><Relationship Id="rId14" Type="http://schemas.openxmlformats.org/officeDocument/2006/relationships/image" Target="../media/image43.png"/><Relationship Id="rId15" Type="http://schemas.openxmlformats.org/officeDocument/2006/relationships/image" Target="../media/image44.png"/><Relationship Id="rId16" Type="http://schemas.openxmlformats.org/officeDocument/2006/relationships/image" Target="../media/image45.png"/><Relationship Id="rId17" Type="http://schemas.openxmlformats.org/officeDocument/2006/relationships/image" Target="../media/image4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55.png"/><Relationship Id="rId12" Type="http://schemas.openxmlformats.org/officeDocument/2006/relationships/image" Target="../media/image26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51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24.png"/><Relationship Id="rId11" Type="http://schemas.openxmlformats.org/officeDocument/2006/relationships/image" Target="../media/image65.png"/><Relationship Id="rId12" Type="http://schemas.openxmlformats.org/officeDocument/2006/relationships/image" Target="../media/image26.png"/><Relationship Id="rId13" Type="http://schemas.openxmlformats.org/officeDocument/2006/relationships/image" Target="../media/image66.png"/><Relationship Id="rId14" Type="http://schemas.openxmlformats.org/officeDocument/2006/relationships/image" Target="../media/image6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21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Relationship Id="rId10" Type="http://schemas.openxmlformats.org/officeDocument/2006/relationships/image" Target="../media/image7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75.png"/><Relationship Id="rId14" Type="http://schemas.openxmlformats.org/officeDocument/2006/relationships/image" Target="../media/image7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21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Relationship Id="rId11" Type="http://schemas.openxmlformats.org/officeDocument/2006/relationships/image" Target="../media/image84.png"/><Relationship Id="rId12" Type="http://schemas.openxmlformats.org/officeDocument/2006/relationships/image" Target="../media/image26.png"/><Relationship Id="rId13" Type="http://schemas.openxmlformats.org/officeDocument/2006/relationships/image" Target="../media/image85.png"/><Relationship Id="rId14" Type="http://schemas.openxmlformats.org/officeDocument/2006/relationships/image" Target="../media/image86.png"/><Relationship Id="rId15" Type="http://schemas.openxmlformats.org/officeDocument/2006/relationships/image" Target="../media/image87.png"/><Relationship Id="rId16" Type="http://schemas.openxmlformats.org/officeDocument/2006/relationships/image" Target="../media/image88.png"/><Relationship Id="rId17" Type="http://schemas.openxmlformats.org/officeDocument/2006/relationships/image" Target="../media/image89.png"/><Relationship Id="rId18" Type="http://schemas.openxmlformats.org/officeDocument/2006/relationships/image" Target="../media/image90.png"/><Relationship Id="rId19" Type="http://schemas.openxmlformats.org/officeDocument/2006/relationships/image" Target="../media/image91.png"/><Relationship Id="rId20" Type="http://schemas.openxmlformats.org/officeDocument/2006/relationships/image" Target="../media/image92.png"/><Relationship Id="rId21" Type="http://schemas.openxmlformats.org/officeDocument/2006/relationships/image" Target="../media/image9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image" Target="../media/image21.png"/><Relationship Id="rId8" Type="http://schemas.openxmlformats.org/officeDocument/2006/relationships/image" Target="../media/image98.png"/><Relationship Id="rId9" Type="http://schemas.openxmlformats.org/officeDocument/2006/relationships/image" Target="../media/image99.png"/><Relationship Id="rId10" Type="http://schemas.openxmlformats.org/officeDocument/2006/relationships/image" Target="../media/image100.png"/><Relationship Id="rId11" Type="http://schemas.openxmlformats.org/officeDocument/2006/relationships/image" Target="../media/image101.png"/><Relationship Id="rId12" Type="http://schemas.openxmlformats.org/officeDocument/2006/relationships/image" Target="../media/image26.png"/><Relationship Id="rId13" Type="http://schemas.openxmlformats.org/officeDocument/2006/relationships/image" Target="../media/image102.png"/><Relationship Id="rId14" Type="http://schemas.openxmlformats.org/officeDocument/2006/relationships/image" Target="../media/image90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Relationship Id="rId18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7526000" y="9613900"/>
            <a:ext cx="7048500" cy="715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-1860000">
            <a:off x="-1460500" y="7747000"/>
            <a:ext cx="7493000" cy="8216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7000"/>
          </a:blip>
          <a:stretch>
            <a:fillRect/>
          </a:stretch>
        </p:blipFill>
        <p:spPr>
          <a:xfrm rot="13080000">
            <a:off x="17932400" y="-2819400"/>
            <a:ext cx="8255000" cy="558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3784600" y="2641600"/>
            <a:ext cx="16802100" cy="8839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384800" y="5511800"/>
            <a:ext cx="13462000" cy="2705100"/>
          </a:xfrm>
          <a:prstGeom prst="rect">
            <a:avLst/>
          </a:prstGeom>
        </p:spPr>
        <p:txBody>
          <a:bodyPr lIns="0" tIns="443980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51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</a:t>
            </a:r>
            <a:r>
              <a:rPr lang="en-US" sz="151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151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전통</a:t>
            </a:r>
            <a:r>
              <a:rPr lang="en-US" sz="151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151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놀이</a:t>
            </a:r>
            <a:endParaRPr lang="en-US" sz="15199" b="0" i="0" u="none" strike="noStrike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0900" y="3721100"/>
            <a:ext cx="2006600" cy="1130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52000"/>
          </a:blip>
          <a:stretch>
            <a:fillRect/>
          </a:stretch>
        </p:blipFill>
        <p:spPr>
          <a:xfrm>
            <a:off x="8305800" y="8636000"/>
            <a:ext cx="76327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95100" y="4292600"/>
            <a:ext cx="8255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">
            <a:off x="4241800" y="10896600"/>
            <a:ext cx="1498600" cy="1790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">
            <a:off x="3251200" y="10617200"/>
            <a:ext cx="1498600" cy="1790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 rot="1620000">
            <a:off x="-1803400" y="-3429000"/>
            <a:ext cx="7251700" cy="6515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>
            <a:alphaModFix amt="40000"/>
          </a:blip>
          <a:stretch>
            <a:fillRect/>
          </a:stretch>
        </p:blipFill>
        <p:spPr>
          <a:xfrm rot="6900000">
            <a:off x="9855200" y="-2425700"/>
            <a:ext cx="4229100" cy="463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>
            <a:alphaModFix amt="91000"/>
          </a:blip>
          <a:stretch>
            <a:fillRect/>
          </a:stretch>
        </p:blipFill>
        <p:spPr>
          <a:xfrm rot="21360000">
            <a:off x="20751800" y="-1435100"/>
            <a:ext cx="6667500" cy="6273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91000"/>
          </a:blip>
          <a:stretch>
            <a:fillRect/>
          </a:stretch>
        </p:blipFill>
        <p:spPr>
          <a:xfrm rot="10380000">
            <a:off x="-3060700" y="6172200"/>
            <a:ext cx="6959600" cy="657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>
            <a:alphaModFix amt="72000"/>
          </a:blip>
          <a:stretch>
            <a:fillRect/>
          </a:stretch>
        </p:blipFill>
        <p:spPr>
          <a:xfrm rot="-12840000">
            <a:off x="20256500" y="9486900"/>
            <a:ext cx="4813300" cy="3771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>
            <a:alphaModFix amt="72000"/>
          </a:blip>
          <a:stretch>
            <a:fillRect/>
          </a:stretch>
        </p:blipFill>
        <p:spPr>
          <a:xfrm rot="15660000">
            <a:off x="165100" y="-1473200"/>
            <a:ext cx="3848100" cy="5118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839200" y="8940800"/>
            <a:ext cx="65532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800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Корейские традиционные игры</a:t>
            </a:r>
            <a:r>
              <a:rPr lang="en-US" sz="2800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lang="en-US" sz="2800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lang="en-US" sz="2800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lang="en-US" sz="2800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endParaRPr lang="en-US" sz="2666" b="1" i="0" u="none" strike="noStrike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공기놀이</a:t>
            </a:r>
          </a:p>
          <a:p>
            <a:pPr algn="ctr">
              <a:spcBef>
                <a:spcPts val="600"/>
              </a:spcBef>
            </a:pPr>
            <a:r>
              <a:rPr sz="2800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Игра «Конги» (Gonggi)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29800" y="5676900"/>
            <a:ext cx="12293600" cy="13843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401300" y="5981700"/>
            <a:ext cx="11176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 spc="-2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29800" y="7353300"/>
            <a:ext cx="12293600" cy="13843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0401300" y="7645400"/>
            <a:ext cx="11176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 spc="-2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29800" y="9004300"/>
            <a:ext cx="12293600" cy="13843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401300" y="9296400"/>
            <a:ext cx="11176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 spc="-2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353800" y="5981700"/>
            <a:ext cx="98552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바닥에 공깃돌을 뿌리기</a:t>
            </a:r>
          </a:p>
          <a:p>
            <a:pPr algn="l">
              <a:spcBef>
                <a:spcPts val="2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Рассыпать камешки по полу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3800" y="7645400"/>
            <a:ext cx="102235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하늘로 돌을 던지고, 바닥에 있는 돌을 집기</a:t>
            </a:r>
          </a:p>
          <a:p>
            <a:pPr algn="l">
              <a:spcBef>
                <a:spcPts val="2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Подбросить камешек вверх и взять камешек с пола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53800" y="9296400"/>
            <a:ext cx="96647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더 이상 바닥에 돌이 없을 때까지 반복하기</a:t>
            </a:r>
          </a:p>
          <a:p>
            <a:pPr algn="l">
              <a:spcBef>
                <a:spcPts val="2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Повторять, пока на полу не останется камешков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>
            <a:alphaModFix amt="52000"/>
          </a:blip>
          <a:stretch>
            <a:fillRect/>
          </a:stretch>
        </p:blipFill>
        <p:spPr>
          <a:xfrm>
            <a:off x="2260600" y="4368800"/>
            <a:ext cx="19862800" cy="10795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4152900" y="4559300"/>
            <a:ext cx="16700500" cy="711200"/>
          </a:xfrm>
          <a:prstGeom prst="rect">
            <a:avLst/>
          </a:prstGeom>
        </p:spPr>
        <p:txBody>
          <a:bodyPr lIns="0" tIns="50799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다섯 개의 작고 동그란 돌을 던져 손으로 잡으며 노는 놀이</a:t>
            </a:r>
          </a:p>
          <a:p>
            <a:pPr algn="ctr">
              <a:spcBef>
                <a:spcPts val="300"/>
              </a:spcBef>
            </a:pPr>
            <a:r>
              <a:rPr sz="22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Игра, в которой подбрасывают пять маленьких круглых камешков и ловят их рукой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63900" y="5689600"/>
            <a:ext cx="5499100" cy="4711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29800" y="10629900"/>
            <a:ext cx="12293600" cy="13843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10401300" y="10922000"/>
            <a:ext cx="11176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 spc="-2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353800" y="10947400"/>
            <a:ext cx="96647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공기를 손등에 올린 후 채어잡기</a:t>
            </a:r>
          </a:p>
          <a:p>
            <a:pPr algn="l">
              <a:spcBef>
                <a:spcPts val="2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Положить камешки на тыльную сторону ладони и поймать их в воздухе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774700" y="8128000"/>
            <a:ext cx="4737100" cy="64262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29974" y="9296400"/>
            <a:ext cx="7073900" cy="55626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3705010" y="10490200"/>
            <a:ext cx="5194300" cy="2768600"/>
          </a:xfrm>
          <a:prstGeom prst="rect">
            <a:avLst/>
          </a:prstGeom>
        </p:spPr>
        <p:txBody>
          <a:bodyPr lIns="0" tIns="46901" rIns="0" bIns="0" rtlCol="0" anchor="ctr"/>
          <a:lstStyle/>
          <a:p>
            <a:pPr lvl="0" algn="ctr">
              <a:lnSpc>
                <a:spcPct val="90000"/>
              </a:lnSpc>
              <a:spcBef>
                <a:spcPts val="600"/>
              </a:spcBef>
            </a:pP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바닥에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있는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돌을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집을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때</a:t>
            </a:r>
            <a:endParaRPr sz="3515" b="1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Когда берёшь камешек с пола,</a:t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endParaRPr sz="1600" b="0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주변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돌을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건드리면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실패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!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если заденешь соседний камешек — проигрыш!</a:t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한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번에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집는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돌의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개수를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늘려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가다가</a:t>
            </a:r>
            <a:endParaRPr sz="3515" b="1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Постепенно увеличивая число камешков, берущихся за один раз,</a:t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endParaRPr sz="1600" b="0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다섯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개가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되면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채어잡기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!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когда станет пять — поймайте их в воздухе!</a:t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제기차기</a:t>
            </a:r>
          </a:p>
          <a:p>
            <a:pPr algn="ctr">
              <a:spcBef>
                <a:spcPts val="600"/>
              </a:spcBef>
            </a:pPr>
            <a:r>
              <a:rPr sz="2800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Игра «Чеги» (Jegichagi)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82800" y="3556000"/>
            <a:ext cx="7404100" cy="8509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64700" y="5727700"/>
            <a:ext cx="12458700" cy="14605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0274300" y="60325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64700" y="7480300"/>
            <a:ext cx="12458700" cy="14605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0274300" y="77978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64700" y="9232900"/>
            <a:ext cx="12458700" cy="14605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0274300" y="95504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77600" y="6032500"/>
            <a:ext cx="49530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손으로 제기 쥐기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Взять чеги в руку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77600" y="7797800"/>
            <a:ext cx="7124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가볍게 던져 올리기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Легко подбросить вверх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77600" y="9550400"/>
            <a:ext cx="102108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바닥에 떨어지지 않게 계속해서 차기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Продолжать подбивать, не давая упасть на пол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7">
            <a:alphaModFix amt="52000"/>
          </a:blip>
          <a:stretch>
            <a:fillRect/>
          </a:stretch>
        </p:blipFill>
        <p:spPr>
          <a:xfrm>
            <a:off x="9664700" y="4368800"/>
            <a:ext cx="12458700" cy="11938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1049000" y="4559300"/>
            <a:ext cx="9804400" cy="711200"/>
          </a:xfrm>
          <a:prstGeom prst="rect">
            <a:avLst/>
          </a:prstGeom>
        </p:spPr>
        <p:txBody>
          <a:bodyPr lIns="0" tIns="50799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제기를 가지고 발로 차는 놀이</a:t>
            </a:r>
          </a:p>
          <a:p>
            <a:pPr algn="ctr">
              <a:spcBef>
                <a:spcPts val="300"/>
              </a:spcBef>
            </a:pPr>
            <a:r>
              <a:rPr sz="22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Игра, в которой чеги подбивают ногой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비석치기</a:t>
            </a:r>
          </a:p>
          <a:p>
            <a:pPr algn="ctr">
              <a:spcBef>
                <a:spcPts val="600"/>
              </a:spcBef>
            </a:pPr>
            <a:r>
              <a:rPr sz="2800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Игра «Писок-чиги» (Biseokchigi)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52000"/>
          </a:blip>
          <a:stretch>
            <a:fillRect/>
          </a:stretch>
        </p:blipFill>
        <p:spPr>
          <a:xfrm>
            <a:off x="2260600" y="4368800"/>
            <a:ext cx="19862800" cy="132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527300" y="4559300"/>
            <a:ext cx="19342100" cy="711200"/>
          </a:xfrm>
          <a:prstGeom prst="rect">
            <a:avLst/>
          </a:prstGeom>
        </p:spPr>
        <p:txBody>
          <a:bodyPr lIns="0" tIns="50799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손바닥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크기의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네모난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돌을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손으로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던지거나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발로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차서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상대의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비석을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맞춰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쓰러뜨리는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놀이</a:t>
            </a:r>
            <a:endParaRPr lang="en-US" sz="3999" b="0" i="0" u="none" strike="noStrike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algn="ctr">
              <a:spcBef>
                <a:spcPts val="300"/>
              </a:spcBef>
            </a:pP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Игра, в которой квадратным камнем размером с ладонь бросают рукой или бьют ногой, сбивая камень соперника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endParaRPr sz="2200" b="0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92500" y="5753100"/>
            <a:ext cx="7759700" cy="6553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674600" y="5753100"/>
            <a:ext cx="8724900" cy="655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비석치기</a:t>
            </a:r>
          </a:p>
          <a:p>
            <a:pPr algn="ctr">
              <a:spcBef>
                <a:spcPts val="600"/>
              </a:spcBef>
            </a:pPr>
            <a:r>
              <a:rPr sz="2800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Игра «Писок-чиги» (Biseokchigi)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57500" y="4140200"/>
            <a:ext cx="9359900" cy="8267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446000" y="4038600"/>
            <a:ext cx="9080500" cy="8267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비석치기</a:t>
            </a:r>
          </a:p>
          <a:p>
            <a:pPr algn="ctr">
              <a:spcBef>
                <a:spcPts val="600"/>
              </a:spcBef>
            </a:pPr>
            <a:r>
              <a:rPr sz="2800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Игра «Писок-чиги» (Biseokchigi)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17900" y="4109456"/>
            <a:ext cx="8699500" cy="8298444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242800" y="4109456"/>
            <a:ext cx="9156700" cy="82984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무궁화 꽃이 피었습니다</a:t>
            </a:r>
          </a:p>
          <a:p>
            <a:pPr algn="ctr">
              <a:spcBef>
                <a:spcPts val="600"/>
              </a:spcBef>
            </a:pPr>
            <a:r>
              <a:rPr sz="2800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«Цветок мугунхва расцвёл»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52000"/>
          </a:blip>
          <a:stretch>
            <a:fillRect/>
          </a:stretch>
        </p:blipFill>
        <p:spPr>
          <a:xfrm>
            <a:off x="2260600" y="4368800"/>
            <a:ext cx="19862800" cy="132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489200" y="4559300"/>
            <a:ext cx="19392900" cy="711200"/>
          </a:xfrm>
          <a:prstGeom prst="rect">
            <a:avLst/>
          </a:prstGeom>
        </p:spPr>
        <p:txBody>
          <a:bodyPr lIns="0" tIns="50799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술래가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'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무궁화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꽃이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피었습니다'를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외치는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동안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술래에게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다가가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술래를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치고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달아나는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놀이</a:t>
            </a:r>
            <a:endParaRPr lang="en-US" sz="3999" b="0" i="0" u="none" strike="noStrike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algn="ctr">
              <a:spcBef>
                <a:spcPts val="300"/>
              </a:spcBef>
            </a:pP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Игра, в которой, пока водящий кричит «Цветок мугунхва расцвёл», к нему подкрадываются, задевают и убегают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endParaRPr sz="2200" b="0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60600" y="5816600"/>
            <a:ext cx="6070600" cy="3416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02000" y="8686800"/>
            <a:ext cx="5918200" cy="3327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64700" y="5727700"/>
            <a:ext cx="12458700" cy="160947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274300" y="60325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64700" y="7480300"/>
            <a:ext cx="12458700" cy="15621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0274300" y="77978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64700" y="9232900"/>
            <a:ext cx="12458700" cy="14605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274300" y="95504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77600" y="6032500"/>
            <a:ext cx="100330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술래는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'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무궁화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꽃이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피었습니다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'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외치기</a:t>
            </a:r>
            <a:endParaRPr lang="en-US" sz="4536" b="0" i="0" u="none" strike="noStrike" cap="all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algn="l">
              <a:spcBef>
                <a:spcPts val="200"/>
              </a:spcBef>
            </a:pPr>
            <a:r>
              <a:rPr sz="2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Водящий кричит «Цветок мугунхва расцвёл»</a:t>
            </a:r>
            <a:r>
              <a:rPr sz="2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endParaRPr sz="2600" b="0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277600" y="7797800"/>
            <a:ext cx="107188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술래가 구호를 외치는 동안 다가가기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Приближаться, пока водящий выкрикивает фразу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77600" y="9550400"/>
            <a:ext cx="102108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술래를 치고 달아나기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Задеть водящего и убежать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421600" y="7797800"/>
            <a:ext cx="4737100" cy="64262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973300" y="9842500"/>
            <a:ext cx="7404100" cy="55626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34400" y="10693400"/>
            <a:ext cx="7073900" cy="55626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5494000" y="11442700"/>
            <a:ext cx="6692900" cy="1701800"/>
          </a:xfrm>
          <a:prstGeom prst="rect">
            <a:avLst/>
          </a:prstGeom>
        </p:spPr>
        <p:txBody>
          <a:bodyPr lIns="0" tIns="46901" rIns="0" bIns="0" rtlCol="0" anchor="ctr"/>
          <a:lstStyle/>
          <a:p>
            <a:pPr lvl="0"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술래에게 다가간 사람은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Тот, кто добрался до водящего,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술래에게 붙잡힌 사람을 풀어주고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освобождает пойманного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같이 도망갈 수 있어요!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и они могут убежать вместе!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601200" y="11785600"/>
            <a:ext cx="5181600" cy="1701800"/>
          </a:xfrm>
          <a:prstGeom prst="rect">
            <a:avLst/>
          </a:prstGeom>
        </p:spPr>
        <p:txBody>
          <a:bodyPr lIns="0" tIns="46901" rIns="0" bIns="0" rtlCol="0" anchor="ctr"/>
          <a:lstStyle/>
          <a:p>
            <a:pPr lvl="0"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술래가 뒤를 돌아봤을 때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Когда водящий оборачивается,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움직이면 탈락!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тот, кто пошевелился, выбывает!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술래에게 붙잡혀요!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вас поймает водящий!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둥글게</a:t>
            </a:r>
            <a:r>
              <a:rPr lang="en-US" sz="12757" b="0" i="0" u="none" strike="noStrike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12757" b="0" i="0" u="none" strike="noStrike" spc="-4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둥글게</a:t>
            </a:r>
            <a:endParaRPr lang="en-US" sz="12757" b="0" i="0" u="none" strike="noStrike" spc="-400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algn="ctr">
              <a:spcBef>
                <a:spcPts val="600"/>
              </a:spcBef>
            </a:pPr>
            <a:r>
              <a:rPr sz="2800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«Круг за кругом»</a:t>
            </a:r>
            <a:r>
              <a:rPr sz="2800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800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800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800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800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endParaRPr sz="2800" b="1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64700" y="5727700"/>
            <a:ext cx="12458700" cy="15621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274300" y="60325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64700" y="7480300"/>
            <a:ext cx="12458700" cy="15621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0274300" y="77978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64700" y="9232900"/>
            <a:ext cx="12458700" cy="15875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274300" y="95504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77600" y="6032500"/>
            <a:ext cx="93218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손잡고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원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만들어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노래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부르며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돌기</a:t>
            </a:r>
            <a:endParaRPr lang="en-US" sz="4536" b="0" i="0" u="none" strike="noStrike" cap="all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algn="l">
              <a:spcBef>
                <a:spcPts val="200"/>
              </a:spcBef>
            </a:pPr>
            <a:r>
              <a:rPr sz="2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Взявшись за руки, встать в круг и кружиться, распевая песню</a:t>
            </a:r>
            <a:r>
              <a:rPr sz="2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endParaRPr sz="2600" b="0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277600" y="7797800"/>
            <a:ext cx="103886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술래가 부르는 숫자를 잘 듣기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Внимательно слушать число, которое называет ведущий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77600" y="9550400"/>
            <a:ext cx="102108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숫자에 맞는 인원 수대로 그룹 만들기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Собраться в группы по названному числу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>
            <a:alphaModFix amt="52000"/>
          </a:blip>
          <a:stretch>
            <a:fillRect/>
          </a:stretch>
        </p:blipFill>
        <p:spPr>
          <a:xfrm>
            <a:off x="2260600" y="4368800"/>
            <a:ext cx="19862800" cy="11938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4152900" y="4559300"/>
            <a:ext cx="16700500" cy="711200"/>
          </a:xfrm>
          <a:prstGeom prst="rect">
            <a:avLst/>
          </a:prstGeom>
        </p:spPr>
        <p:txBody>
          <a:bodyPr lIns="0" tIns="50799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아이들과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함께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손을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잡고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원을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만들어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율동에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맞춰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도는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신체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놀이</a:t>
            </a:r>
            <a:endParaRPr lang="en-US" sz="3999" b="0" i="0" u="none" strike="noStrike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algn="ctr">
              <a:spcBef>
                <a:spcPts val="300"/>
              </a:spcBef>
            </a:pP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Подвижная игра, в которой дети, взявшись за руки, образуют круг и кружатся под музыку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endParaRPr sz="2200" b="0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7">
            <a:alphaModFix amt="52000"/>
          </a:blip>
          <a:stretch>
            <a:fillRect/>
          </a:stretch>
        </p:blipFill>
        <p:spPr>
          <a:xfrm>
            <a:off x="2260600" y="10985500"/>
            <a:ext cx="19862800" cy="129909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4102100" y="11163300"/>
            <a:ext cx="16700500" cy="711200"/>
          </a:xfrm>
          <a:prstGeom prst="rect">
            <a:avLst/>
          </a:prstGeom>
        </p:spPr>
        <p:txBody>
          <a:bodyPr lIns="0" tIns="50799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무리에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끼지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못했거나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정해진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숫자대로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만들지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못한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사람은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탈락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!</a:t>
            </a:r>
          </a:p>
          <a:p>
            <a:pPr algn="ctr">
              <a:spcBef>
                <a:spcPts val="300"/>
              </a:spcBef>
            </a:pP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Тот, кто не попал в группу или не набрал нужное число, выбывает!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/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52800" y="5791200"/>
            <a:ext cx="52832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418</Words>
  <Application>Microsoft Macintosh PowerPoint</Application>
  <PresentationFormat>Custom</PresentationFormat>
  <Paragraphs>94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S-Core Dream 3 Light</vt:lpstr>
      <vt:lpstr>S-Core Dream 8 Heavy</vt:lpstr>
      <vt:lpstr>Calibri</vt:lpstr>
      <vt:lpstr>Arial</vt:lpstr>
      <vt:lpstr>KCC-Ganpan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이다은</dc:creator>
  <cp:lastModifiedBy>쿨마토프잘로리딘쿠사노비</cp:lastModifiedBy>
  <cp:revision>3</cp:revision>
  <dcterms:created xsi:type="dcterms:W3CDTF">2006-08-16T00:00:00Z</dcterms:created>
  <dcterms:modified xsi:type="dcterms:W3CDTF">2026-07-07T19:14:56Z</dcterms:modified>
</cp:coreProperties>
</file>